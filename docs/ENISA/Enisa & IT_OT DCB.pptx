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5143500" cx="9144000"/>
  <p:notesSz cx="6858000" cy="9144000"/>
  <p:embeddedFontLst>
    <p:embeddedFont>
      <p:font typeface="Roboto"/>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F03814-BA20-48E7-8217-B6F485C53217}">
  <a:tblStyle styleId="{4DF03814-BA20-48E7-8217-B6F485C53217}"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italic.fntdata"/><Relationship Id="rId61" Type="http://schemas.openxmlformats.org/officeDocument/2006/relationships/font" Target="fonts/Roboto-bold.fntdata"/><Relationship Id="rId20" Type="http://schemas.openxmlformats.org/officeDocument/2006/relationships/slide" Target="slides/slide14.xml"/><Relationship Id="rId63" Type="http://schemas.openxmlformats.org/officeDocument/2006/relationships/font" Target="fonts/Roboto-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89802bd642_0_0: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89802bd642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
              <a:t>n</a:t>
            </a:r>
            <a:endParaRPr/>
          </a:p>
        </p:txBody>
      </p:sp>
      <p:sp>
        <p:nvSpPr>
          <p:cNvPr id="72" name="Google Shape;72;g389802bd642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9802bd64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89802bd642_0_89: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89802bd642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89802bd642_0_172: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89802bd642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89802bd642_0_181: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9802bd642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389802bd642_0_177: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89802bd642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89802bd642_0_199: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9802bd64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89802bd642_0_205: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9802bd642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89802bd642_0_221: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9802bd642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89802bd642_0_209: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89802bd642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89802bd642_0_213: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8984d20a3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8984d20a35_0_13: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984d20a3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8984d20a35_0_21: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8984d20a3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8984d20a35_0_41: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984d20a3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8984d20a35_0_37: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8984d20a3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8984d20a35_0_33: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984d20a3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8984d20a35_0_62: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984d20a3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8984d20a35_0_58: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984d20a3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38984d20a35_0_81: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6ca015d3d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6ca015d3dd_0_4: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6ca015d3d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6ca015d3dd_0_13: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6ca015d3d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6ca015d3dd_0_19: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6ca015d3d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6ca015d3dd_0_26: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6ca015d3d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6ca015d3dd_0_33: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6ca015d3d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6ca015d3dd_0_40: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ca015d3d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6ca015d3dd_0_52: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6ca015d3d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6ca015d3dd_0_88: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6ca015d3dd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6ca015d3dd_0_96: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6ca015d3dd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6ca015d3dd_0_104: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6ca015d3dd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36ca015d3dd_0_112: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6ca015d3d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6ca015d3dd_0_120: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ca015d3dd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6ca015d3dd_0_128: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6ca015d3d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g36ca015d3dd_0_136: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6ca015d3d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6ca015d3dd_0_144: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6ca015d3d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g36ca015d3dd_0_152: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6ca015d3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36ca015d3dd_0_160: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6ca015d3dd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6ca015d3dd_0_168: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6ca015d3dd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6ca015d3dd_0_176: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6ca015d3dd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g36ca015d3dd_0_185: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6ca015d3dd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g36ca015d3dd_0_193: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6ca015d3dd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6ca015d3dd_0_202: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6ca015d3dd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36ca015d3dd_0_211: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6ca015d3dd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36ca015d3dd_0_234: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6ca015d3dd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36ca015d3dd_0_256: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6ca015d3dd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g36ca015d3dd_0_265: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6ca015d3dd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36ca015d3dd_0_274: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6ca015d3dd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g36ca015d3dd_0_283: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6ca015d3dd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g36ca015d3dd_0_292: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6ca015d3dd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6ca015d3dd_0_301: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6ca015d3dd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g36ca015d3dd_0_311: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6ca015d3dd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36ca015d3dd_0_320: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6ca015d3dd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g36ca015d3dd_0_329: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6ca015d3dd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g36ca015d3dd_0_338: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6ca015d3dd_0_243:notes"/>
          <p:cNvSpPr/>
          <p:nvPr>
            <p:ph idx="2" type="sldImg"/>
          </p:nvPr>
        </p:nvSpPr>
        <p:spPr>
          <a:xfrm>
            <a:off x="382188" y="685800"/>
            <a:ext cx="609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g36ca015d3dd_0_2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
              <a:t>n</a:t>
            </a:r>
            <a:endParaRPr/>
          </a:p>
        </p:txBody>
      </p:sp>
      <p:sp>
        <p:nvSpPr>
          <p:cNvPr id="496" name="Google Shape;496;g36ca015d3dd_0_2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 Id="rId3" Type="http://schemas.openxmlformats.org/officeDocument/2006/relationships/image" Target="../media/image2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 Id="rId3"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Izenburua">
  <p:cSld name="0-Izenburua">
    <p:spTree>
      <p:nvGrpSpPr>
        <p:cNvPr id="50" name="Shape 50"/>
        <p:cNvGrpSpPr/>
        <p:nvPr/>
      </p:nvGrpSpPr>
      <p:grpSpPr>
        <a:xfrm>
          <a:off x="0" y="0"/>
          <a:ext cx="0" cy="0"/>
          <a:chOff x="0" y="0"/>
          <a:chExt cx="0" cy="0"/>
        </a:xfrm>
      </p:grpSpPr>
      <p:sp>
        <p:nvSpPr>
          <p:cNvPr id="51" name="Google Shape;51;p13"/>
          <p:cNvSpPr txBox="1"/>
          <p:nvPr>
            <p:ph type="ctrTitle"/>
          </p:nvPr>
        </p:nvSpPr>
        <p:spPr>
          <a:xfrm>
            <a:off x="1964492" y="1401258"/>
            <a:ext cx="5074500" cy="16203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800"/>
              <a:buFont typeface="Source Sans Pro"/>
              <a:buNone/>
              <a:defRPr b="1" sz="3800">
                <a:latin typeface="Source Sans Pro"/>
                <a:ea typeface="Source Sans Pro"/>
                <a:cs typeface="Source Sans Pro"/>
                <a:sym typeface="Source Sans Pr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subTitle"/>
          </p:nvPr>
        </p:nvSpPr>
        <p:spPr>
          <a:xfrm>
            <a:off x="1371601" y="3781901"/>
            <a:ext cx="6400800" cy="251100"/>
          </a:xfrm>
          <a:prstGeom prst="rect">
            <a:avLst/>
          </a:prstGeom>
          <a:noFill/>
          <a:ln>
            <a:noFill/>
          </a:ln>
        </p:spPr>
        <p:txBody>
          <a:bodyPr anchorCtr="0" anchor="t" bIns="34275" lIns="68575" spcFirstLastPara="1" rIns="68575" wrap="square" tIns="34275">
            <a:normAutofit/>
          </a:bodyPr>
          <a:lstStyle>
            <a:lvl1pPr lvl="0" algn="ctr">
              <a:spcBef>
                <a:spcPts val="300"/>
              </a:spcBef>
              <a:spcAft>
                <a:spcPts val="0"/>
              </a:spcAft>
              <a:buClr>
                <a:schemeClr val="dk1"/>
              </a:buClr>
              <a:buSzPts val="1500"/>
              <a:buNone/>
              <a:defRPr sz="1500">
                <a:solidFill>
                  <a:schemeClr val="dk1"/>
                </a:solidFill>
                <a:latin typeface="Source Sans Pro"/>
                <a:ea typeface="Source Sans Pro"/>
                <a:cs typeface="Source Sans Pro"/>
                <a:sym typeface="Source Sans Pro"/>
              </a:defRPr>
            </a:lvl1pPr>
            <a:lvl2pPr lvl="1" algn="ctr">
              <a:spcBef>
                <a:spcPts val="1200"/>
              </a:spcBef>
              <a:spcAft>
                <a:spcPts val="0"/>
              </a:spcAft>
              <a:buClr>
                <a:srgbClr val="888888"/>
              </a:buClr>
              <a:buSzPts val="2100"/>
              <a:buNone/>
              <a:defRPr>
                <a:solidFill>
                  <a:srgbClr val="888888"/>
                </a:solidFill>
              </a:defRPr>
            </a:lvl2pPr>
            <a:lvl3pPr lvl="2" algn="ctr">
              <a:spcBef>
                <a:spcPts val="1200"/>
              </a:spcBef>
              <a:spcAft>
                <a:spcPts val="0"/>
              </a:spcAft>
              <a:buClr>
                <a:srgbClr val="888888"/>
              </a:buClr>
              <a:buSzPts val="1800"/>
              <a:buNone/>
              <a:defRPr>
                <a:solidFill>
                  <a:srgbClr val="888888"/>
                </a:solidFill>
              </a:defRPr>
            </a:lvl3pPr>
            <a:lvl4pPr lvl="3" algn="ctr">
              <a:spcBef>
                <a:spcPts val="1200"/>
              </a:spcBef>
              <a:spcAft>
                <a:spcPts val="0"/>
              </a:spcAft>
              <a:buClr>
                <a:srgbClr val="888888"/>
              </a:buClr>
              <a:buSzPts val="1500"/>
              <a:buNone/>
              <a:defRPr>
                <a:solidFill>
                  <a:srgbClr val="888888"/>
                </a:solidFill>
              </a:defRPr>
            </a:lvl4pPr>
            <a:lvl5pPr lvl="4" algn="ctr">
              <a:spcBef>
                <a:spcPts val="1200"/>
              </a:spcBef>
              <a:spcAft>
                <a:spcPts val="0"/>
              </a:spcAft>
              <a:buClr>
                <a:srgbClr val="888888"/>
              </a:buClr>
              <a:buSzPts val="1500"/>
              <a:buNone/>
              <a:defRPr>
                <a:solidFill>
                  <a:srgbClr val="888888"/>
                </a:solidFill>
              </a:defRPr>
            </a:lvl5pPr>
            <a:lvl6pPr lvl="5" algn="ctr">
              <a:spcBef>
                <a:spcPts val="1200"/>
              </a:spcBef>
              <a:spcAft>
                <a:spcPts val="0"/>
              </a:spcAft>
              <a:buClr>
                <a:srgbClr val="888888"/>
              </a:buClr>
              <a:buSzPts val="1500"/>
              <a:buNone/>
              <a:defRPr>
                <a:solidFill>
                  <a:srgbClr val="888888"/>
                </a:solidFill>
              </a:defRPr>
            </a:lvl6pPr>
            <a:lvl7pPr lvl="6" algn="ctr">
              <a:spcBef>
                <a:spcPts val="1200"/>
              </a:spcBef>
              <a:spcAft>
                <a:spcPts val="0"/>
              </a:spcAft>
              <a:buClr>
                <a:srgbClr val="888888"/>
              </a:buClr>
              <a:buSzPts val="1500"/>
              <a:buNone/>
              <a:defRPr>
                <a:solidFill>
                  <a:srgbClr val="888888"/>
                </a:solidFill>
              </a:defRPr>
            </a:lvl7pPr>
            <a:lvl8pPr lvl="7" algn="ctr">
              <a:spcBef>
                <a:spcPts val="1200"/>
              </a:spcBef>
              <a:spcAft>
                <a:spcPts val="0"/>
              </a:spcAft>
              <a:buClr>
                <a:srgbClr val="888888"/>
              </a:buClr>
              <a:buSzPts val="1500"/>
              <a:buNone/>
              <a:defRPr>
                <a:solidFill>
                  <a:srgbClr val="888888"/>
                </a:solidFill>
              </a:defRPr>
            </a:lvl8pPr>
            <a:lvl9pPr lvl="8" algn="ctr">
              <a:spcBef>
                <a:spcPts val="1200"/>
              </a:spcBef>
              <a:spcAft>
                <a:spcPts val="1200"/>
              </a:spcAft>
              <a:buClr>
                <a:srgbClr val="888888"/>
              </a:buClr>
              <a:buSzPts val="1500"/>
              <a:buNone/>
              <a:defRPr>
                <a:solidFill>
                  <a:srgbClr val="888888"/>
                </a:solidFill>
              </a:defRPr>
            </a:lvl9pPr>
          </a:lstStyle>
          <a:p/>
        </p:txBody>
      </p:sp>
      <p:sp>
        <p:nvSpPr>
          <p:cNvPr id="53" name="Google Shape;53;p13"/>
          <p:cNvSpPr txBox="1"/>
          <p:nvPr>
            <p:ph idx="10" type="dt"/>
          </p:nvPr>
        </p:nvSpPr>
        <p:spPr>
          <a:xfrm>
            <a:off x="457201" y="4767263"/>
            <a:ext cx="2133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124204" y="4767263"/>
            <a:ext cx="28956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553207" y="4623978"/>
            <a:ext cx="21336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cxnSp>
        <p:nvCxnSpPr>
          <p:cNvPr id="56" name="Google Shape;56;p13"/>
          <p:cNvCxnSpPr/>
          <p:nvPr/>
        </p:nvCxnSpPr>
        <p:spPr>
          <a:xfrm>
            <a:off x="467010" y="4029912"/>
            <a:ext cx="8210100" cy="0"/>
          </a:xfrm>
          <a:prstGeom prst="straightConnector1">
            <a:avLst/>
          </a:prstGeom>
          <a:noFill/>
          <a:ln cap="flat" cmpd="sng" w="7150">
            <a:solidFill>
              <a:schemeClr val="dk1"/>
            </a:solidFill>
            <a:prstDash val="solid"/>
            <a:round/>
            <a:headEnd len="sm" w="sm" type="none"/>
            <a:tailEnd len="sm" w="sm" type="none"/>
          </a:ln>
        </p:spPr>
      </p:cxnSp>
      <p:pic>
        <p:nvPicPr>
          <p:cNvPr id="57" name="Google Shape;57;p13"/>
          <p:cNvPicPr preferRelativeResize="0"/>
          <p:nvPr/>
        </p:nvPicPr>
        <p:blipFill rotWithShape="1">
          <a:blip r:embed="rId2">
            <a:alphaModFix/>
          </a:blip>
          <a:srcRect b="0" l="0" r="0" t="0"/>
          <a:stretch/>
        </p:blipFill>
        <p:spPr>
          <a:xfrm>
            <a:off x="-1" y="4924019"/>
            <a:ext cx="9142814" cy="219482"/>
          </a:xfrm>
          <a:prstGeom prst="rect">
            <a:avLst/>
          </a:prstGeom>
          <a:noFill/>
          <a:ln>
            <a:noFill/>
          </a:ln>
        </p:spPr>
      </p:pic>
      <p:pic>
        <p:nvPicPr>
          <p:cNvPr descr="G:\Mi unidad\ana\Tknika\LOGOs TKNIKA\header_ppt_unevoc.png" id="58" name="Google Shape;58;p13"/>
          <p:cNvPicPr preferRelativeResize="0"/>
          <p:nvPr/>
        </p:nvPicPr>
        <p:blipFill rotWithShape="1">
          <a:blip r:embed="rId3">
            <a:alphaModFix/>
          </a:blip>
          <a:srcRect b="0" l="0" r="0" t="0"/>
          <a:stretch/>
        </p:blipFill>
        <p:spPr>
          <a:xfrm>
            <a:off x="467466" y="195486"/>
            <a:ext cx="8208000" cy="28767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Atala tituluarekin">
  <p:cSld name="2-Atala tituluarekin">
    <p:spTree>
      <p:nvGrpSpPr>
        <p:cNvPr id="59" name="Shape 59"/>
        <p:cNvGrpSpPr/>
        <p:nvPr/>
      </p:nvGrpSpPr>
      <p:grpSpPr>
        <a:xfrm>
          <a:off x="0" y="0"/>
          <a:ext cx="0" cy="0"/>
          <a:chOff x="0" y="0"/>
          <a:chExt cx="0" cy="0"/>
        </a:xfrm>
      </p:grpSpPr>
      <p:sp>
        <p:nvSpPr>
          <p:cNvPr id="60" name="Google Shape;60;p14"/>
          <p:cNvSpPr txBox="1"/>
          <p:nvPr>
            <p:ph type="title"/>
          </p:nvPr>
        </p:nvSpPr>
        <p:spPr>
          <a:xfrm>
            <a:off x="457201" y="573528"/>
            <a:ext cx="8229600" cy="4320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000"/>
              <a:buFont typeface="Source Sans Pro"/>
              <a:buNone/>
              <a:defRPr b="1" sz="3000">
                <a:latin typeface="Source Sans Pro"/>
                <a:ea typeface="Source Sans Pro"/>
                <a:cs typeface="Source Sans Pro"/>
                <a:sym typeface="Source Sans Pr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 name="Google Shape;61;p14"/>
          <p:cNvSpPr txBox="1"/>
          <p:nvPr>
            <p:ph idx="10" type="dt"/>
          </p:nvPr>
        </p:nvSpPr>
        <p:spPr>
          <a:xfrm>
            <a:off x="457201" y="4767263"/>
            <a:ext cx="21336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2" name="Google Shape;62;p14"/>
          <p:cNvSpPr txBox="1"/>
          <p:nvPr>
            <p:ph idx="11" type="ftr"/>
          </p:nvPr>
        </p:nvSpPr>
        <p:spPr>
          <a:xfrm>
            <a:off x="3124204" y="4767263"/>
            <a:ext cx="28956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63" name="Google Shape;63;p14"/>
          <p:cNvSpPr txBox="1"/>
          <p:nvPr>
            <p:ph idx="12" type="sldNum"/>
          </p:nvPr>
        </p:nvSpPr>
        <p:spPr>
          <a:xfrm>
            <a:off x="6553207" y="4623978"/>
            <a:ext cx="21336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
              <a:t>‹#›</a:t>
            </a:fld>
            <a:endParaRPr/>
          </a:p>
        </p:txBody>
      </p:sp>
      <p:pic>
        <p:nvPicPr>
          <p:cNvPr id="64" name="Google Shape;64;p14"/>
          <p:cNvPicPr preferRelativeResize="0"/>
          <p:nvPr/>
        </p:nvPicPr>
        <p:blipFill rotWithShape="1">
          <a:blip r:embed="rId2">
            <a:alphaModFix/>
          </a:blip>
          <a:srcRect b="0" l="0" r="0" t="0"/>
          <a:stretch/>
        </p:blipFill>
        <p:spPr>
          <a:xfrm>
            <a:off x="-1" y="4924019"/>
            <a:ext cx="9142814" cy="219482"/>
          </a:xfrm>
          <a:prstGeom prst="rect">
            <a:avLst/>
          </a:prstGeom>
          <a:noFill/>
          <a:ln>
            <a:noFill/>
          </a:ln>
        </p:spPr>
      </p:pic>
      <p:sp>
        <p:nvSpPr>
          <p:cNvPr id="65" name="Google Shape;65;p14"/>
          <p:cNvSpPr txBox="1"/>
          <p:nvPr>
            <p:ph idx="1" type="body"/>
          </p:nvPr>
        </p:nvSpPr>
        <p:spPr>
          <a:xfrm>
            <a:off x="467010" y="1653648"/>
            <a:ext cx="5401500" cy="2862300"/>
          </a:xfrm>
          <a:prstGeom prst="rect">
            <a:avLst/>
          </a:prstGeom>
          <a:noFill/>
          <a:ln>
            <a:noFill/>
          </a:ln>
        </p:spPr>
        <p:txBody>
          <a:bodyPr anchorCtr="0" anchor="t" bIns="34275" lIns="68575" spcFirstLastPara="1" rIns="68575" wrap="square" tIns="34275">
            <a:noAutofit/>
          </a:bodyPr>
          <a:lstStyle>
            <a:lvl1pPr indent="-228600" lvl="0" marL="457200" algn="l">
              <a:spcBef>
                <a:spcPts val="0"/>
              </a:spcBef>
              <a:spcAft>
                <a:spcPts val="0"/>
              </a:spcAft>
              <a:buClr>
                <a:schemeClr val="dk1"/>
              </a:buClr>
              <a:buSzPts val="1200"/>
              <a:buNone/>
              <a:defRPr sz="1200">
                <a:latin typeface="Source Sans Pro"/>
                <a:ea typeface="Source Sans Pro"/>
                <a:cs typeface="Source Sans Pro"/>
                <a:sym typeface="Source Sans Pro"/>
              </a:defRPr>
            </a:lvl1pPr>
            <a:lvl2pPr indent="-228600" lvl="1" marL="914400" algn="l">
              <a:spcBef>
                <a:spcPts val="1200"/>
              </a:spcBef>
              <a:spcAft>
                <a:spcPts val="0"/>
              </a:spcAft>
              <a:buClr>
                <a:schemeClr val="dk1"/>
              </a:buClr>
              <a:buSzPts val="1800"/>
              <a:buNone/>
              <a:defRPr sz="1800">
                <a:latin typeface="Source Sans Pro"/>
                <a:ea typeface="Source Sans Pro"/>
                <a:cs typeface="Source Sans Pro"/>
                <a:sym typeface="Source Sans Pro"/>
              </a:defRPr>
            </a:lvl2pPr>
            <a:lvl3pPr indent="-228600" lvl="2" marL="1371600" algn="l">
              <a:spcBef>
                <a:spcPts val="1200"/>
              </a:spcBef>
              <a:spcAft>
                <a:spcPts val="0"/>
              </a:spcAft>
              <a:buClr>
                <a:schemeClr val="dk1"/>
              </a:buClr>
              <a:buSzPts val="1800"/>
              <a:buNone/>
              <a:defRPr sz="1800">
                <a:latin typeface="Source Sans Pro"/>
                <a:ea typeface="Source Sans Pro"/>
                <a:cs typeface="Source Sans Pro"/>
                <a:sym typeface="Source Sans Pro"/>
              </a:defRPr>
            </a:lvl3pPr>
            <a:lvl4pPr indent="-228600" lvl="3" marL="1828800" algn="l">
              <a:spcBef>
                <a:spcPts val="1200"/>
              </a:spcBef>
              <a:spcAft>
                <a:spcPts val="0"/>
              </a:spcAft>
              <a:buClr>
                <a:schemeClr val="dk1"/>
              </a:buClr>
              <a:buSzPts val="1800"/>
              <a:buNone/>
              <a:defRPr sz="1800">
                <a:latin typeface="Source Sans Pro"/>
                <a:ea typeface="Source Sans Pro"/>
                <a:cs typeface="Source Sans Pro"/>
                <a:sym typeface="Source Sans Pro"/>
              </a:defRPr>
            </a:lvl4pPr>
            <a:lvl5pPr indent="-228600" lvl="4" marL="2286000" algn="l">
              <a:spcBef>
                <a:spcPts val="1200"/>
              </a:spcBef>
              <a:spcAft>
                <a:spcPts val="0"/>
              </a:spcAft>
              <a:buClr>
                <a:schemeClr val="dk1"/>
              </a:buClr>
              <a:buSzPts val="1800"/>
              <a:buNone/>
              <a:defRPr sz="1800">
                <a:latin typeface="Source Sans Pro"/>
                <a:ea typeface="Source Sans Pro"/>
                <a:cs typeface="Source Sans Pro"/>
                <a:sym typeface="Source Sans Pro"/>
              </a:defRPr>
            </a:lvl5pPr>
            <a:lvl6pPr indent="-317500" lvl="5" marL="2743200" algn="l">
              <a:spcBef>
                <a:spcPts val="1200"/>
              </a:spcBef>
              <a:spcAft>
                <a:spcPts val="0"/>
              </a:spcAft>
              <a:buClr>
                <a:schemeClr val="dk1"/>
              </a:buClr>
              <a:buSzPts val="1400"/>
              <a:buChar char="■"/>
              <a:defRPr/>
            </a:lvl6pPr>
            <a:lvl7pPr indent="-317500" lvl="6" marL="3200400" algn="l">
              <a:spcBef>
                <a:spcPts val="1200"/>
              </a:spcBef>
              <a:spcAft>
                <a:spcPts val="0"/>
              </a:spcAft>
              <a:buClr>
                <a:schemeClr val="dk1"/>
              </a:buClr>
              <a:buSzPts val="1400"/>
              <a:buChar char="●"/>
              <a:defRPr/>
            </a:lvl7pPr>
            <a:lvl8pPr indent="-317500" lvl="7" marL="3657600" algn="l">
              <a:spcBef>
                <a:spcPts val="1200"/>
              </a:spcBef>
              <a:spcAft>
                <a:spcPts val="0"/>
              </a:spcAft>
              <a:buClr>
                <a:schemeClr val="dk1"/>
              </a:buClr>
              <a:buSzPts val="1400"/>
              <a:buChar char="○"/>
              <a:defRPr/>
            </a:lvl8pPr>
            <a:lvl9pPr indent="-317500" lvl="8" marL="4114800" algn="l">
              <a:spcBef>
                <a:spcPts val="1200"/>
              </a:spcBef>
              <a:spcAft>
                <a:spcPts val="1200"/>
              </a:spcAft>
              <a:buClr>
                <a:schemeClr val="dk1"/>
              </a:buClr>
              <a:buSzPts val="1400"/>
              <a:buChar char="■"/>
              <a:defRPr/>
            </a:lvl9pPr>
          </a:lstStyle>
          <a:p/>
        </p:txBody>
      </p:sp>
      <p:sp>
        <p:nvSpPr>
          <p:cNvPr id="66" name="Google Shape;66;p14"/>
          <p:cNvSpPr txBox="1"/>
          <p:nvPr>
            <p:ph idx="2" type="body"/>
          </p:nvPr>
        </p:nvSpPr>
        <p:spPr>
          <a:xfrm>
            <a:off x="467010" y="1005576"/>
            <a:ext cx="8210100" cy="324600"/>
          </a:xfrm>
          <a:prstGeom prst="rect">
            <a:avLst/>
          </a:prstGeom>
          <a:noFill/>
          <a:ln>
            <a:noFill/>
          </a:ln>
        </p:spPr>
        <p:txBody>
          <a:bodyPr anchorCtr="0" anchor="t" bIns="34275" lIns="68575" spcFirstLastPara="1" rIns="68575" wrap="square" tIns="34275">
            <a:noAutofit/>
          </a:bodyPr>
          <a:lstStyle>
            <a:lvl1pPr indent="-228600" lvl="0" marL="457200" algn="ctr">
              <a:spcBef>
                <a:spcPts val="500"/>
              </a:spcBef>
              <a:spcAft>
                <a:spcPts val="0"/>
              </a:spcAft>
              <a:buClr>
                <a:srgbClr val="CEDA2E"/>
              </a:buClr>
              <a:buSzPts val="2300"/>
              <a:buNone/>
              <a:defRPr sz="2300">
                <a:solidFill>
                  <a:srgbClr val="CEDA2E"/>
                </a:solidFill>
                <a:latin typeface="Source Sans Pro"/>
                <a:ea typeface="Source Sans Pro"/>
                <a:cs typeface="Source Sans Pro"/>
                <a:sym typeface="Source Sans Pro"/>
              </a:defRPr>
            </a:lvl1pPr>
            <a:lvl2pPr indent="-374650" lvl="1" marL="914400" algn="l">
              <a:spcBef>
                <a:spcPts val="1200"/>
              </a:spcBef>
              <a:spcAft>
                <a:spcPts val="0"/>
              </a:spcAft>
              <a:buClr>
                <a:schemeClr val="dk1"/>
              </a:buClr>
              <a:buSzPts val="2300"/>
              <a:buChar char="○"/>
              <a:defRPr sz="2300">
                <a:latin typeface="Source Sans Pro"/>
                <a:ea typeface="Source Sans Pro"/>
                <a:cs typeface="Source Sans Pro"/>
                <a:sym typeface="Source Sans Pro"/>
              </a:defRPr>
            </a:lvl2pPr>
            <a:lvl3pPr indent="-374650" lvl="2" marL="1371600" algn="l">
              <a:spcBef>
                <a:spcPts val="1200"/>
              </a:spcBef>
              <a:spcAft>
                <a:spcPts val="0"/>
              </a:spcAft>
              <a:buClr>
                <a:schemeClr val="dk1"/>
              </a:buClr>
              <a:buSzPts val="2300"/>
              <a:buChar char="■"/>
              <a:defRPr sz="2300">
                <a:latin typeface="Source Sans Pro"/>
                <a:ea typeface="Source Sans Pro"/>
                <a:cs typeface="Source Sans Pro"/>
                <a:sym typeface="Source Sans Pro"/>
              </a:defRPr>
            </a:lvl3pPr>
            <a:lvl4pPr indent="-374650" lvl="3" marL="1828800" algn="l">
              <a:spcBef>
                <a:spcPts val="1200"/>
              </a:spcBef>
              <a:spcAft>
                <a:spcPts val="0"/>
              </a:spcAft>
              <a:buClr>
                <a:schemeClr val="dk1"/>
              </a:buClr>
              <a:buSzPts val="2300"/>
              <a:buChar char="●"/>
              <a:defRPr sz="2300">
                <a:latin typeface="Source Sans Pro"/>
                <a:ea typeface="Source Sans Pro"/>
                <a:cs typeface="Source Sans Pro"/>
                <a:sym typeface="Source Sans Pro"/>
              </a:defRPr>
            </a:lvl4pPr>
            <a:lvl5pPr indent="-374650" lvl="4" marL="2286000" algn="l">
              <a:spcBef>
                <a:spcPts val="1200"/>
              </a:spcBef>
              <a:spcAft>
                <a:spcPts val="0"/>
              </a:spcAft>
              <a:buClr>
                <a:schemeClr val="dk1"/>
              </a:buClr>
              <a:buSzPts val="2300"/>
              <a:buChar char="○"/>
              <a:defRPr sz="2300">
                <a:latin typeface="Source Sans Pro"/>
                <a:ea typeface="Source Sans Pro"/>
                <a:cs typeface="Source Sans Pro"/>
                <a:sym typeface="Source Sans Pro"/>
              </a:defRPr>
            </a:lvl5pPr>
            <a:lvl6pPr indent="-317500" lvl="5" marL="2743200" algn="l">
              <a:spcBef>
                <a:spcPts val="1200"/>
              </a:spcBef>
              <a:spcAft>
                <a:spcPts val="0"/>
              </a:spcAft>
              <a:buClr>
                <a:schemeClr val="dk1"/>
              </a:buClr>
              <a:buSzPts val="1400"/>
              <a:buChar char="■"/>
              <a:defRPr/>
            </a:lvl6pPr>
            <a:lvl7pPr indent="-317500" lvl="6" marL="3200400" algn="l">
              <a:spcBef>
                <a:spcPts val="1200"/>
              </a:spcBef>
              <a:spcAft>
                <a:spcPts val="0"/>
              </a:spcAft>
              <a:buClr>
                <a:schemeClr val="dk1"/>
              </a:buClr>
              <a:buSzPts val="1400"/>
              <a:buChar char="●"/>
              <a:defRPr/>
            </a:lvl7pPr>
            <a:lvl8pPr indent="-317500" lvl="7" marL="3657600" algn="l">
              <a:spcBef>
                <a:spcPts val="1200"/>
              </a:spcBef>
              <a:spcAft>
                <a:spcPts val="0"/>
              </a:spcAft>
              <a:buClr>
                <a:schemeClr val="dk1"/>
              </a:buClr>
              <a:buSzPts val="1400"/>
              <a:buChar char="○"/>
              <a:defRPr/>
            </a:lvl8pPr>
            <a:lvl9pPr indent="-317500" lvl="8" marL="4114800" algn="l">
              <a:spcBef>
                <a:spcPts val="1200"/>
              </a:spcBef>
              <a:spcAft>
                <a:spcPts val="1200"/>
              </a:spcAft>
              <a:buClr>
                <a:schemeClr val="dk1"/>
              </a:buClr>
              <a:buSzPts val="1400"/>
              <a:buChar char="■"/>
              <a:defRPr/>
            </a:lvl9pPr>
          </a:lstStyle>
          <a:p/>
        </p:txBody>
      </p:sp>
      <p:sp>
        <p:nvSpPr>
          <p:cNvPr id="67" name="Google Shape;67;p14"/>
          <p:cNvSpPr/>
          <p:nvPr>
            <p:ph idx="3" type="pic"/>
          </p:nvPr>
        </p:nvSpPr>
        <p:spPr>
          <a:xfrm>
            <a:off x="6030116" y="1653778"/>
            <a:ext cx="2646900" cy="2862300"/>
          </a:xfrm>
          <a:prstGeom prst="rect">
            <a:avLst/>
          </a:prstGeom>
          <a:noFill/>
          <a:ln>
            <a:noFill/>
          </a:ln>
        </p:spPr>
      </p:sp>
      <p:pic>
        <p:nvPicPr>
          <p:cNvPr descr="G:\Mi unidad\ana\Tknika\LOGOs TKNIKA\header_ppt.png" id="68" name="Google Shape;68;p14"/>
          <p:cNvPicPr preferRelativeResize="0"/>
          <p:nvPr/>
        </p:nvPicPr>
        <p:blipFill rotWithShape="1">
          <a:blip r:embed="rId3">
            <a:alphaModFix/>
          </a:blip>
          <a:srcRect b="0" l="0" r="0" t="0"/>
          <a:stretch/>
        </p:blipFill>
        <p:spPr>
          <a:xfrm>
            <a:off x="467466" y="195486"/>
            <a:ext cx="8208000" cy="28767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https://docs.google.com/document/d/1lKILRrMTPN_JYAG62FjMadZXBxA_XbTBA03Bfgu08JI/edit#heading=h.hk93xfuyo9lv" TargetMode="External"/><Relationship Id="rId4" Type="http://schemas.openxmlformats.org/officeDocument/2006/relationships/hyperlink" Target="https://docs.google.com/document/d/1lKILRrMTPN_JYAG62FjMadZXBxA_XbTBA03Bfgu08JI/edit#heading=h.rajl70x2xe9p" TargetMode="External"/><Relationship Id="rId5" Type="http://schemas.openxmlformats.org/officeDocument/2006/relationships/hyperlink" Target="https://docs.google.com/document/d/1lKILRrMTPN_JYAG62FjMadZXBxA_XbTBA03Bfgu08JI/edit#heading=h.9a857uw8pz8w" TargetMode="External"/><Relationship Id="rId6" Type="http://schemas.openxmlformats.org/officeDocument/2006/relationships/hyperlink" Target="https://docs.google.com/document/d/1lKILRrMTPN_JYAG62FjMadZXBxA_XbTBA03Bfgu08JI/edit#heading=h.i6bq9iotln0v" TargetMode="External"/><Relationship Id="rId7" Type="http://schemas.openxmlformats.org/officeDocument/2006/relationships/hyperlink" Target="https://docs.google.com/document/d/1lKILRrMTPN_JYAG62FjMadZXBxA_XbTBA03Bfgu08JI/edit#heading=h.4drw47xuqyb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www.enisa.europa.eu/"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www.enisa.europa.eu/publications/european-cybersecurity-skills-framework-role-profiles" TargetMode="Externa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hyperlink" Target="https://www.enisa.europa.eu/sites/default/files/publications/European%20Cybersecurity%20Skills%20Framework%20Role%20Profiles.pdf" TargetMode="External"/><Relationship Id="rId4" Type="http://schemas.openxmlformats.org/officeDocument/2006/relationships/hyperlink" Target="https://www.enisa.europa.eu/sites/default/files/publications/European%20Cybersecurity%20Skills%20Framework%20Role%20Profiles.pdf" TargetMode="External"/><Relationship Id="rId9" Type="http://schemas.openxmlformats.org/officeDocument/2006/relationships/hyperlink" Target="https://www.enisa.europa.eu/sites/default/files/publications/European%20Cybersecurity%20Skills%20Framework%20Role%20Profiles.pdf" TargetMode="External"/><Relationship Id="rId5" Type="http://schemas.openxmlformats.org/officeDocument/2006/relationships/hyperlink" Target="https://www.enisa.europa.eu/sites/default/files/publications/European%20Cybersecurity%20Skills%20Framework%20Role%20Profiles.pdf" TargetMode="External"/><Relationship Id="rId6" Type="http://schemas.openxmlformats.org/officeDocument/2006/relationships/hyperlink" Target="https://www.enisa.europa.eu/sites/default/files/publications/European%20Cybersecurity%20Skills%20Framework%20Role%20Profiles.pdf" TargetMode="External"/><Relationship Id="rId7" Type="http://schemas.openxmlformats.org/officeDocument/2006/relationships/hyperlink" Target="https://www.enisa.europa.eu/sites/default/files/publications/European%20Cybersecurity%20Skills%20Framework%20Role%20Profiles.pdf" TargetMode="External"/><Relationship Id="rId8" Type="http://schemas.openxmlformats.org/officeDocument/2006/relationships/hyperlink" Target="https://www.enisa.europa.eu/sites/default/files/publications/European%20Cybersecurity%20Skills%20Framework%20Role%20Profiles.pdf"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hyperlink" Target="https://www.enisa.europa.eu/" TargetMode="External"/><Relationship Id="rId4" Type="http://schemas.openxmlformats.org/officeDocument/2006/relationships/hyperlink" Target="https://www.enisa.europa.eu/publications/european-cybersecurity-skills-framework-ecsf" TargetMode="External"/><Relationship Id="rId5" Type="http://schemas.openxmlformats.org/officeDocument/2006/relationships/hyperlink" Target="https://ivac-eei.eus/es/" TargetMode="External"/><Relationship Id="rId6" Type="http://schemas.openxmlformats.org/officeDocument/2006/relationships/hyperlink" Target="https://ivac-eei.eus/es/familias-profesionales/informatica-y-comunicaciones-ifc/especializaciones/curso-de-especializacion-en-ciberseguridad-en-entornos-de-las-tecnologias-de-la-informacion.html" TargetMode="External"/><Relationship Id="rId7" Type="http://schemas.openxmlformats.org/officeDocument/2006/relationships/hyperlink" Target="https://ivac-eei.eus/es/familias-profesionales/electricidad-y-electronica-ele/especializaciones/curso-de-especializacion-en-ciberseguridad-en-entornos-de-las-tecnologias-de-operacion.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4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4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4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4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nvSpPr>
        <p:spPr>
          <a:xfrm>
            <a:off x="656056" y="3729830"/>
            <a:ext cx="7831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75" name="Google Shape;75;p15"/>
          <p:cNvSpPr txBox="1"/>
          <p:nvPr>
            <p:ph idx="12" type="sldNum"/>
          </p:nvPr>
        </p:nvSpPr>
        <p:spPr>
          <a:xfrm>
            <a:off x="6555696" y="4674170"/>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76" name="Google Shape;76;p15"/>
          <p:cNvSpPr/>
          <p:nvPr/>
        </p:nvSpPr>
        <p:spPr>
          <a:xfrm>
            <a:off x="5544240" y="87474"/>
            <a:ext cx="972000" cy="5940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D:\Descargas\UNEVOC_Network_Logo_blue_en.png" id="77" name="Google Shape;77;p15"/>
          <p:cNvPicPr preferRelativeResize="0"/>
          <p:nvPr/>
        </p:nvPicPr>
        <p:blipFill rotWithShape="1">
          <a:blip r:embed="rId3">
            <a:alphaModFix/>
          </a:blip>
          <a:srcRect b="0" l="0" r="0" t="0"/>
          <a:stretch/>
        </p:blipFill>
        <p:spPr>
          <a:xfrm>
            <a:off x="6048288" y="186092"/>
            <a:ext cx="414120" cy="313200"/>
          </a:xfrm>
          <a:prstGeom prst="rect">
            <a:avLst/>
          </a:prstGeom>
          <a:noFill/>
          <a:ln>
            <a:noFill/>
          </a:ln>
        </p:spPr>
      </p:pic>
      <p:pic>
        <p:nvPicPr>
          <p:cNvPr id="78" name="Google Shape;78;p15"/>
          <p:cNvPicPr preferRelativeResize="0"/>
          <p:nvPr/>
        </p:nvPicPr>
        <p:blipFill>
          <a:blip r:embed="rId4">
            <a:alphaModFix/>
          </a:blip>
          <a:stretch>
            <a:fillRect/>
          </a:stretch>
        </p:blipFill>
        <p:spPr>
          <a:xfrm>
            <a:off x="2079325" y="681475"/>
            <a:ext cx="5627991" cy="3246563"/>
          </a:xfrm>
          <a:prstGeom prst="rect">
            <a:avLst/>
          </a:prstGeom>
          <a:noFill/>
          <a:ln>
            <a:noFill/>
          </a:ln>
        </p:spPr>
      </p:pic>
      <p:sp>
        <p:nvSpPr>
          <p:cNvPr id="79" name="Google Shape;79;p15"/>
          <p:cNvSpPr txBox="1"/>
          <p:nvPr/>
        </p:nvSpPr>
        <p:spPr>
          <a:xfrm>
            <a:off x="471725" y="3940000"/>
            <a:ext cx="8445000" cy="1246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2300">
                <a:solidFill>
                  <a:schemeClr val="dk1"/>
                </a:solidFill>
                <a:latin typeface="Source Sans Pro"/>
                <a:ea typeface="Source Sans Pro"/>
                <a:cs typeface="Source Sans Pro"/>
                <a:sym typeface="Source Sans Pro"/>
              </a:rPr>
              <a:t>European Competencies and Contents of the IT/OT Cybersecurity Specialization Courses</a:t>
            </a:r>
            <a:endParaRPr b="1" sz="26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t/>
            </a:r>
            <a:endParaRPr b="1" sz="2300">
              <a:solidFill>
                <a:schemeClr val="dk1"/>
              </a:solidFill>
              <a:latin typeface="Source Sans Pro"/>
              <a:ea typeface="Source Sans Pro"/>
              <a:cs typeface="Source Sans Pro"/>
              <a:sym typeface="Source Sans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85" name="Google Shape;85;p16"/>
          <p:cNvSpPr txBox="1"/>
          <p:nvPr/>
        </p:nvSpPr>
        <p:spPr>
          <a:xfrm>
            <a:off x="140025" y="479775"/>
            <a:ext cx="8663100" cy="4610100"/>
          </a:xfrm>
          <a:prstGeom prst="rect">
            <a:avLst/>
          </a:prstGeom>
          <a:noFill/>
          <a:ln>
            <a:noFill/>
          </a:ln>
        </p:spPr>
        <p:txBody>
          <a:bodyPr anchorCtr="0" anchor="t" bIns="91425" lIns="91425" spcFirstLastPara="1" rIns="91425" wrap="square" tIns="91425">
            <a:spAutoFit/>
          </a:bodyPr>
          <a:lstStyle/>
          <a:p>
            <a:pPr indent="0" lvl="0" marL="0" rtl="0" algn="l">
              <a:spcBef>
                <a:spcPts val="300"/>
              </a:spcBef>
              <a:spcAft>
                <a:spcPts val="0"/>
              </a:spcAft>
              <a:buNone/>
            </a:pPr>
            <a:r>
              <a:rPr b="1" lang="es" sz="1200">
                <a:latin typeface="Source Sans Pro"/>
                <a:ea typeface="Source Sans Pro"/>
                <a:cs typeface="Source Sans Pro"/>
                <a:sym typeface="Source Sans Pro"/>
              </a:rPr>
              <a:t>1. Objective and Scope of the Comparison Document </a:t>
            </a:r>
            <a:r>
              <a:rPr b="1" lang="es" sz="1200">
                <a:solidFill>
                  <a:schemeClr val="dk1"/>
                </a:solidFill>
                <a:latin typeface="Source Sans Pro"/>
                <a:ea typeface="Source Sans Pro"/>
                <a:cs typeface="Source Sans Pro"/>
                <a:sym typeface="Source Sans Pro"/>
              </a:rPr>
              <a:t>	</a:t>
            </a:r>
            <a:endParaRPr b="1" sz="1200">
              <a:solidFill>
                <a:schemeClr val="dk1"/>
              </a:solidFill>
              <a:latin typeface="Source Sans Pro"/>
              <a:ea typeface="Source Sans Pro"/>
              <a:cs typeface="Source Sans Pro"/>
              <a:sym typeface="Source Sans Pro"/>
            </a:endParaRPr>
          </a:p>
          <a:p>
            <a:pPr indent="0" lvl="0" marL="0" rtl="0" algn="l">
              <a:spcBef>
                <a:spcPts val="300"/>
              </a:spcBef>
              <a:spcAft>
                <a:spcPts val="0"/>
              </a:spcAft>
              <a:buNone/>
            </a:pPr>
            <a:r>
              <a:rPr b="1" lang="es" sz="1200">
                <a:solidFill>
                  <a:schemeClr val="dk1"/>
                </a:solidFill>
                <a:latin typeface="Source Sans Pro"/>
                <a:ea typeface="Source Sans Pro"/>
                <a:cs typeface="Source Sans Pro"/>
                <a:sym typeface="Source Sans Pro"/>
              </a:rPr>
              <a:t>2. Presentation of Enisa and the European Cybersecurity Competence Framework (ECSF) 	</a:t>
            </a:r>
            <a:endParaRPr b="1" sz="1200">
              <a:solidFill>
                <a:schemeClr val="dk1"/>
              </a:solidFill>
              <a:latin typeface="Source Sans Pro"/>
              <a:ea typeface="Source Sans Pro"/>
              <a:cs typeface="Source Sans Pro"/>
              <a:sym typeface="Source Sans Pro"/>
            </a:endParaRPr>
          </a:p>
          <a:p>
            <a:pPr indent="0" lvl="0" marL="228600" rtl="0" algn="l">
              <a:spcBef>
                <a:spcPts val="300"/>
              </a:spcBef>
              <a:spcAft>
                <a:spcPts val="0"/>
              </a:spcAft>
              <a:buNone/>
            </a:pPr>
            <a:r>
              <a:rPr lang="es" sz="1200">
                <a:solidFill>
                  <a:schemeClr val="dk1"/>
                </a:solidFill>
                <a:latin typeface="Source Sans Pro"/>
                <a:ea typeface="Source Sans Pro"/>
                <a:cs typeface="Source Sans Pro"/>
                <a:sym typeface="Source Sans Pro"/>
              </a:rPr>
              <a:t>2.1. ENISA 	</a:t>
            </a:r>
            <a:endParaRPr sz="1200">
              <a:solidFill>
                <a:schemeClr val="dk1"/>
              </a:solidFill>
              <a:latin typeface="Source Sans Pro"/>
              <a:ea typeface="Source Sans Pro"/>
              <a:cs typeface="Source Sans Pro"/>
              <a:sym typeface="Source Sans Pro"/>
            </a:endParaRPr>
          </a:p>
          <a:p>
            <a:pPr indent="0" lvl="0" marL="228600" rtl="0" algn="l">
              <a:spcBef>
                <a:spcPts val="300"/>
              </a:spcBef>
              <a:spcAft>
                <a:spcPts val="0"/>
              </a:spcAft>
              <a:buNone/>
            </a:pPr>
            <a:r>
              <a:rPr lang="es" sz="1200">
                <a:solidFill>
                  <a:schemeClr val="dk1"/>
                </a:solidFill>
                <a:uFill>
                  <a:noFill/>
                </a:uFill>
                <a:latin typeface="Source Sans Pro"/>
                <a:ea typeface="Source Sans Pro"/>
                <a:cs typeface="Source Sans Pro"/>
                <a:sym typeface="Source Sans Pro"/>
                <a:hlinkClick r:id="rId3">
                  <a:extLst>
                    <a:ext uri="{A12FA001-AC4F-418D-AE19-62706E023703}">
                      <ahyp:hlinkClr val="tx"/>
                    </a:ext>
                  </a:extLst>
                </a:hlinkClick>
              </a:rPr>
              <a:t>2.2. European C</a:t>
            </a:r>
            <a:r>
              <a:rPr lang="es" sz="1200">
                <a:latin typeface="Source Sans Pro"/>
                <a:ea typeface="Source Sans Pro"/>
                <a:cs typeface="Source Sans Pro"/>
                <a:sym typeface="Source Sans Pro"/>
              </a:rPr>
              <a:t>ybersecurity Competence Framework (ECSF) 	</a:t>
            </a:r>
            <a:endParaRPr sz="1200">
              <a:latin typeface="Source Sans Pro"/>
              <a:ea typeface="Source Sans Pro"/>
              <a:cs typeface="Source Sans Pro"/>
              <a:sym typeface="Source Sans Pro"/>
            </a:endParaRPr>
          </a:p>
          <a:p>
            <a:pPr indent="0" lvl="0" marL="0" rtl="0" algn="l">
              <a:spcBef>
                <a:spcPts val="300"/>
              </a:spcBef>
              <a:spcAft>
                <a:spcPts val="0"/>
              </a:spcAft>
              <a:buNone/>
            </a:pPr>
            <a:r>
              <a:rPr b="1" lang="es" sz="1200">
                <a:latin typeface="Source Sans Pro"/>
                <a:ea typeface="Source Sans Pro"/>
                <a:cs typeface="Source Sans Pro"/>
                <a:sym typeface="Source Sans Pro"/>
              </a:rPr>
              <a:t>3. Presentation of the Specialization Course in C</a:t>
            </a:r>
            <a:r>
              <a:rPr b="1" lang="es" sz="1200">
                <a:latin typeface="Source Sans Pro"/>
                <a:ea typeface="Source Sans Pro"/>
                <a:cs typeface="Source Sans Pro"/>
                <a:sym typeface="Source Sans Pro"/>
              </a:rPr>
              <a:t>y</a:t>
            </a:r>
            <a:r>
              <a:rPr b="1" lang="es" sz="1200">
                <a:latin typeface="Source Sans Pro"/>
                <a:ea typeface="Source Sans Pro"/>
                <a:cs typeface="Source Sans Pro"/>
                <a:sym typeface="Source Sans Pro"/>
              </a:rPr>
              <a:t>bersecurity in Information Technology Environments 	</a:t>
            </a:r>
            <a:endParaRPr b="1" sz="1200">
              <a:latin typeface="Source Sans Pro"/>
              <a:ea typeface="Source Sans Pro"/>
              <a:cs typeface="Source Sans Pro"/>
              <a:sym typeface="Source Sans Pro"/>
            </a:endParaRPr>
          </a:p>
          <a:p>
            <a:pPr indent="0" lvl="0" marL="0" rtl="0" algn="l">
              <a:spcBef>
                <a:spcPts val="300"/>
              </a:spcBef>
              <a:spcAft>
                <a:spcPts val="0"/>
              </a:spcAft>
              <a:buNone/>
            </a:pPr>
            <a:r>
              <a:rPr b="1" lang="es" sz="1200">
                <a:latin typeface="Source Sans Pro"/>
                <a:ea typeface="Source Sans Pro"/>
                <a:cs typeface="Source Sans Pro"/>
                <a:sym typeface="Source Sans Pro"/>
              </a:rPr>
              <a:t>4. Presentation of the Specialization Course in Cybersecurity in Operational Technology Environments </a:t>
            </a:r>
            <a:endParaRPr b="1" sz="1200">
              <a:latin typeface="Source Sans Pro"/>
              <a:ea typeface="Source Sans Pro"/>
              <a:cs typeface="Source Sans Pro"/>
              <a:sym typeface="Source Sans Pro"/>
            </a:endParaRPr>
          </a:p>
          <a:p>
            <a:pPr indent="0" lvl="0" marL="0" rtl="0" algn="l">
              <a:spcBef>
                <a:spcPts val="300"/>
              </a:spcBef>
              <a:spcAft>
                <a:spcPts val="0"/>
              </a:spcAft>
              <a:buNone/>
            </a:pPr>
            <a:r>
              <a:rPr b="1" lang="es" sz="1200">
                <a:latin typeface="Source Sans Pro"/>
                <a:ea typeface="Source Sans Pro"/>
                <a:cs typeface="Source Sans Pro"/>
                <a:sym typeface="Source Sans Pro"/>
              </a:rPr>
              <a:t>5. Analyze the relationship between profiles of the European framework and the professional competences of IT/OT Decrees </a:t>
            </a:r>
            <a:endParaRPr b="1" sz="1200">
              <a:latin typeface="Source Sans Pro"/>
              <a:ea typeface="Source Sans Pro"/>
              <a:cs typeface="Source Sans Pro"/>
              <a:sym typeface="Source Sans Pro"/>
            </a:endParaRPr>
          </a:p>
          <a:p>
            <a:pPr indent="457200" lvl="0" marL="0" rtl="0" algn="l">
              <a:spcBef>
                <a:spcPts val="300"/>
              </a:spcBef>
              <a:spcAft>
                <a:spcPts val="0"/>
              </a:spcAft>
              <a:buNone/>
            </a:pPr>
            <a:r>
              <a:rPr b="1" lang="es" sz="1200">
                <a:latin typeface="Source Sans Pro"/>
                <a:ea typeface="Source Sans Pro"/>
                <a:cs typeface="Source Sans Pro"/>
                <a:sym typeface="Source Sans Pro"/>
              </a:rPr>
              <a:t> </a:t>
            </a:r>
            <a:r>
              <a:rPr lang="es" sz="1200">
                <a:latin typeface="Source Sans Pro"/>
                <a:ea typeface="Source Sans Pro"/>
                <a:cs typeface="Source Sans Pro"/>
                <a:sym typeface="Source Sans Pro"/>
              </a:rPr>
              <a:t>5.1. ECSF Analysis &amp; IT Decree 	</a:t>
            </a:r>
            <a:endParaRPr sz="1200">
              <a:latin typeface="Source Sans Pro"/>
              <a:ea typeface="Source Sans Pro"/>
              <a:cs typeface="Source Sans Pro"/>
              <a:sym typeface="Source Sans Pro"/>
            </a:endParaRPr>
          </a:p>
          <a:p>
            <a:pPr indent="0" lvl="0" marL="914400" rtl="0" algn="l">
              <a:spcBef>
                <a:spcPts val="300"/>
              </a:spcBef>
              <a:spcAft>
                <a:spcPts val="0"/>
              </a:spcAft>
              <a:buNone/>
            </a:pPr>
            <a:r>
              <a:rPr lang="es" sz="1200">
                <a:latin typeface="Source Sans Pro"/>
                <a:ea typeface="Source Sans Pro"/>
                <a:cs typeface="Source Sans Pro"/>
                <a:sym typeface="Source Sans Pro"/>
              </a:rPr>
              <a:t>5.1.1. General perspectives 	</a:t>
            </a:r>
            <a:endParaRPr sz="1200">
              <a:latin typeface="Source Sans Pro"/>
              <a:ea typeface="Source Sans Pro"/>
              <a:cs typeface="Source Sans Pro"/>
              <a:sym typeface="Source Sans Pro"/>
            </a:endParaRPr>
          </a:p>
          <a:p>
            <a:pPr indent="0" lvl="0" marL="914400" rtl="0" algn="l">
              <a:spcBef>
                <a:spcPts val="300"/>
              </a:spcBef>
              <a:spcAft>
                <a:spcPts val="0"/>
              </a:spcAft>
              <a:buNone/>
            </a:pPr>
            <a:r>
              <a:rPr lang="es" sz="1200">
                <a:latin typeface="Source Sans Pro"/>
                <a:ea typeface="Source Sans Pro"/>
                <a:cs typeface="Source Sans Pro"/>
                <a:sym typeface="Source Sans Pro"/>
              </a:rPr>
              <a:t>5.1.2. More detailed information 	</a:t>
            </a:r>
            <a:endParaRPr sz="1200">
              <a:latin typeface="Source Sans Pro"/>
              <a:ea typeface="Source Sans Pro"/>
              <a:cs typeface="Source Sans Pro"/>
              <a:sym typeface="Source Sans Pro"/>
            </a:endParaRPr>
          </a:p>
          <a:p>
            <a:pPr indent="0" lvl="0" marL="914400" rtl="0" algn="l">
              <a:spcBef>
                <a:spcPts val="300"/>
              </a:spcBef>
              <a:spcAft>
                <a:spcPts val="0"/>
              </a:spcAft>
              <a:buNone/>
            </a:pPr>
            <a:r>
              <a:rPr lang="es" sz="1200">
                <a:latin typeface="Source Sans Pro"/>
                <a:ea typeface="Source Sans Pro"/>
                <a:cs typeface="Source Sans Pro"/>
                <a:sym typeface="Source Sans Pro"/>
              </a:rPr>
              <a:t>5.1.3. Classification according to alignment 	</a:t>
            </a:r>
            <a:endParaRPr sz="1200">
              <a:latin typeface="Source Sans Pro"/>
              <a:ea typeface="Source Sans Pro"/>
              <a:cs typeface="Source Sans Pro"/>
              <a:sym typeface="Source Sans Pro"/>
            </a:endParaRPr>
          </a:p>
          <a:p>
            <a:pPr indent="0" lvl="0" marL="914400" rtl="0" algn="l">
              <a:spcBef>
                <a:spcPts val="300"/>
              </a:spcBef>
              <a:spcAft>
                <a:spcPts val="0"/>
              </a:spcAft>
              <a:buNone/>
            </a:pPr>
            <a:r>
              <a:rPr lang="es" sz="1200">
                <a:latin typeface="Source Sans Pro"/>
                <a:ea typeface="Source Sans Pro"/>
                <a:cs typeface="Source Sans Pro"/>
                <a:sym typeface="Source Sans Pro"/>
              </a:rPr>
              <a:t>5.1.4. Conclusions 	</a:t>
            </a:r>
            <a:endParaRPr sz="1200">
              <a:latin typeface="Source Sans Pro"/>
              <a:ea typeface="Source Sans Pro"/>
              <a:cs typeface="Source Sans Pro"/>
              <a:sym typeface="Source Sans Pro"/>
            </a:endParaRPr>
          </a:p>
          <a:p>
            <a:pPr indent="457200" lvl="0" marL="0" rtl="0" algn="l">
              <a:spcBef>
                <a:spcPts val="300"/>
              </a:spcBef>
              <a:spcAft>
                <a:spcPts val="0"/>
              </a:spcAft>
              <a:buNone/>
            </a:pPr>
            <a:r>
              <a:rPr lang="es" sz="1200">
                <a:latin typeface="Source Sans Pro"/>
                <a:ea typeface="Source Sans Pro"/>
                <a:cs typeface="Source Sans Pro"/>
                <a:sym typeface="Source Sans Pro"/>
              </a:rPr>
              <a:t>5.2. ECSF Analysis &amp; Decree OT </a:t>
            </a:r>
            <a:r>
              <a:rPr lang="es" sz="1200">
                <a:solidFill>
                  <a:schemeClr val="dk1"/>
                </a:solidFill>
                <a:latin typeface="Source Sans Pro"/>
                <a:ea typeface="Source Sans Pro"/>
                <a:cs typeface="Source Sans Pro"/>
                <a:sym typeface="Source Sans Pro"/>
              </a:rPr>
              <a:t>	</a:t>
            </a:r>
            <a:endParaRPr sz="1200">
              <a:solidFill>
                <a:schemeClr val="dk1"/>
              </a:solidFill>
              <a:latin typeface="Source Sans Pro"/>
              <a:ea typeface="Source Sans Pro"/>
              <a:cs typeface="Source Sans Pro"/>
              <a:sym typeface="Source Sans Pro"/>
            </a:endParaRPr>
          </a:p>
          <a:p>
            <a:pPr indent="0" lvl="0" marL="914400" rtl="0" algn="l">
              <a:spcBef>
                <a:spcPts val="300"/>
              </a:spcBef>
              <a:spcAft>
                <a:spcPts val="0"/>
              </a:spcAft>
              <a:buNone/>
            </a:pPr>
            <a:r>
              <a:rPr lang="es" sz="1200">
                <a:solidFill>
                  <a:schemeClr val="dk1"/>
                </a:solidFill>
                <a:latin typeface="Source Sans Pro"/>
                <a:ea typeface="Source Sans Pro"/>
                <a:cs typeface="Source Sans Pro"/>
                <a:sym typeface="Source Sans Pro"/>
              </a:rPr>
              <a:t>5.2.1. General perspectives 	</a:t>
            </a:r>
            <a:endParaRPr sz="1200">
              <a:solidFill>
                <a:schemeClr val="dk1"/>
              </a:solidFill>
              <a:latin typeface="Source Sans Pro"/>
              <a:ea typeface="Source Sans Pro"/>
              <a:cs typeface="Source Sans Pro"/>
              <a:sym typeface="Source Sans Pro"/>
            </a:endParaRPr>
          </a:p>
          <a:p>
            <a:pPr indent="0" lvl="0" marL="914400" rtl="0" algn="l">
              <a:spcBef>
                <a:spcPts val="300"/>
              </a:spcBef>
              <a:spcAft>
                <a:spcPts val="0"/>
              </a:spcAft>
              <a:buNone/>
            </a:pPr>
            <a:r>
              <a:rPr lang="es" sz="1200">
                <a:solidFill>
                  <a:schemeClr val="dk1"/>
                </a:solidFill>
                <a:latin typeface="Source Sans Pro"/>
                <a:ea typeface="Source Sans Pro"/>
                <a:cs typeface="Source Sans Pro"/>
                <a:sym typeface="Source Sans Pro"/>
              </a:rPr>
              <a:t>5.2.2. Detailed information 	</a:t>
            </a:r>
            <a:endParaRPr sz="1200">
              <a:solidFill>
                <a:schemeClr val="dk1"/>
              </a:solidFill>
              <a:latin typeface="Source Sans Pro"/>
              <a:ea typeface="Source Sans Pro"/>
              <a:cs typeface="Source Sans Pro"/>
              <a:sym typeface="Source Sans Pro"/>
            </a:endParaRPr>
          </a:p>
          <a:p>
            <a:pPr indent="0" lvl="0" marL="914400" rtl="0" algn="l">
              <a:spcBef>
                <a:spcPts val="300"/>
              </a:spcBef>
              <a:spcAft>
                <a:spcPts val="0"/>
              </a:spcAft>
              <a:buNone/>
            </a:pPr>
            <a:r>
              <a:rPr lang="es" sz="1200">
                <a:solidFill>
                  <a:schemeClr val="dk1"/>
                </a:solidFill>
                <a:uFill>
                  <a:noFill/>
                </a:uFill>
                <a:latin typeface="Source Sans Pro"/>
                <a:ea typeface="Source Sans Pro"/>
                <a:cs typeface="Source Sans Pro"/>
                <a:sym typeface="Source Sans Pro"/>
                <a:hlinkClick r:id="rId4">
                  <a:extLst>
                    <a:ext uri="{A12FA001-AC4F-418D-AE19-62706E023703}">
                      <ahyp:hlinkClr val="tx"/>
                    </a:ext>
                  </a:extLst>
                </a:hlinkClick>
              </a:rPr>
              <a:t>5.2.3. Classification according to alignment </a:t>
            </a:r>
            <a:r>
              <a:rPr lang="es" sz="1200">
                <a:solidFill>
                  <a:schemeClr val="dk1"/>
                </a:solidFill>
                <a:latin typeface="Source Sans Pro"/>
                <a:ea typeface="Source Sans Pro"/>
                <a:cs typeface="Source Sans Pro"/>
                <a:sym typeface="Source Sans Pro"/>
              </a:rPr>
              <a:t>	</a:t>
            </a:r>
            <a:endParaRPr sz="1200">
              <a:solidFill>
                <a:schemeClr val="dk1"/>
              </a:solidFill>
              <a:latin typeface="Source Sans Pro"/>
              <a:ea typeface="Source Sans Pro"/>
              <a:cs typeface="Source Sans Pro"/>
              <a:sym typeface="Source Sans Pro"/>
            </a:endParaRPr>
          </a:p>
          <a:p>
            <a:pPr indent="0" lvl="0" marL="914400" rtl="0" algn="l">
              <a:spcBef>
                <a:spcPts val="300"/>
              </a:spcBef>
              <a:spcAft>
                <a:spcPts val="0"/>
              </a:spcAft>
              <a:buNone/>
            </a:pPr>
            <a:r>
              <a:rPr lang="es" sz="1200">
                <a:solidFill>
                  <a:schemeClr val="dk1"/>
                </a:solidFill>
                <a:uFill>
                  <a:noFill/>
                </a:uFill>
                <a:latin typeface="Source Sans Pro"/>
                <a:ea typeface="Source Sans Pro"/>
                <a:cs typeface="Source Sans Pro"/>
                <a:sym typeface="Source Sans Pro"/>
                <a:hlinkClick r:id="rId5">
                  <a:extLst>
                    <a:ext uri="{A12FA001-AC4F-418D-AE19-62706E023703}">
                      <ahyp:hlinkClr val="tx"/>
                    </a:ext>
                  </a:extLst>
                </a:hlinkClick>
              </a:rPr>
              <a:t>5.2.4. Conclusions </a:t>
            </a:r>
            <a:r>
              <a:rPr lang="es" sz="1200">
                <a:solidFill>
                  <a:schemeClr val="dk1"/>
                </a:solidFill>
                <a:latin typeface="Source Sans Pro"/>
                <a:ea typeface="Source Sans Pro"/>
                <a:cs typeface="Source Sans Pro"/>
                <a:sym typeface="Source Sans Pro"/>
              </a:rPr>
              <a:t>	</a:t>
            </a:r>
            <a:endParaRPr sz="1200">
              <a:solidFill>
                <a:schemeClr val="dk1"/>
              </a:solidFill>
              <a:latin typeface="Source Sans Pro"/>
              <a:ea typeface="Source Sans Pro"/>
              <a:cs typeface="Source Sans Pro"/>
              <a:sym typeface="Source Sans Pro"/>
            </a:endParaRPr>
          </a:p>
          <a:p>
            <a:pPr indent="0" lvl="0" marL="0" rtl="0" algn="l">
              <a:spcBef>
                <a:spcPts val="300"/>
              </a:spcBef>
              <a:spcAft>
                <a:spcPts val="0"/>
              </a:spcAft>
              <a:buNone/>
            </a:pPr>
            <a:r>
              <a:rPr b="1" lang="es" sz="1200">
                <a:solidFill>
                  <a:schemeClr val="dk1"/>
                </a:solidFill>
                <a:uFill>
                  <a:noFill/>
                </a:uFill>
                <a:latin typeface="Source Sans Pro"/>
                <a:ea typeface="Source Sans Pro"/>
                <a:cs typeface="Source Sans Pro"/>
                <a:sym typeface="Source Sans Pro"/>
                <a:hlinkClick r:id="rId6">
                  <a:extLst>
                    <a:ext uri="{A12FA001-AC4F-418D-AE19-62706E023703}">
                      <ahyp:hlinkClr val="tx"/>
                    </a:ext>
                  </a:extLst>
                </a:hlinkClick>
              </a:rPr>
              <a:t>6. Tables of relationship between profiles and Decree </a:t>
            </a:r>
            <a:r>
              <a:rPr b="1" lang="es" sz="1200">
                <a:solidFill>
                  <a:schemeClr val="dk1"/>
                </a:solidFill>
                <a:latin typeface="Source Sans Pro"/>
                <a:ea typeface="Source Sans Pro"/>
                <a:cs typeface="Source Sans Pro"/>
                <a:sym typeface="Source Sans Pro"/>
              </a:rPr>
              <a:t>	</a:t>
            </a:r>
            <a:endParaRPr b="1" sz="1200">
              <a:solidFill>
                <a:schemeClr val="dk1"/>
              </a:solidFill>
              <a:latin typeface="Source Sans Pro"/>
              <a:ea typeface="Source Sans Pro"/>
              <a:cs typeface="Source Sans Pro"/>
              <a:sym typeface="Source Sans Pro"/>
            </a:endParaRPr>
          </a:p>
          <a:p>
            <a:pPr indent="0" lvl="0" marL="0" rtl="0" algn="l">
              <a:spcBef>
                <a:spcPts val="300"/>
              </a:spcBef>
              <a:spcAft>
                <a:spcPts val="0"/>
              </a:spcAft>
              <a:buNone/>
            </a:pPr>
            <a:r>
              <a:rPr b="1" lang="es" sz="1200">
                <a:solidFill>
                  <a:schemeClr val="dk1"/>
                </a:solidFill>
                <a:uFill>
                  <a:noFill/>
                </a:uFill>
                <a:latin typeface="Source Sans Pro"/>
                <a:ea typeface="Source Sans Pro"/>
                <a:cs typeface="Source Sans Pro"/>
                <a:sym typeface="Source Sans Pro"/>
                <a:hlinkClick r:id="rId7">
                  <a:extLst>
                    <a:ext uri="{A12FA001-AC4F-418D-AE19-62706E023703}">
                      <ahyp:hlinkClr val="tx"/>
                    </a:ext>
                  </a:extLst>
                </a:hlinkClick>
              </a:rPr>
              <a:t>7. Bibliography </a:t>
            </a:r>
            <a:r>
              <a:rPr b="1" lang="es" sz="1200">
                <a:solidFill>
                  <a:schemeClr val="dk1"/>
                </a:solidFill>
                <a:latin typeface="Source Sans Pro"/>
                <a:ea typeface="Source Sans Pro"/>
                <a:cs typeface="Source Sans Pro"/>
                <a:sym typeface="Source Sans Pro"/>
              </a:rPr>
              <a:t>	</a:t>
            </a:r>
            <a:endParaRPr b="1" sz="1200">
              <a:solidFill>
                <a:schemeClr val="dk1"/>
              </a:solidFill>
              <a:latin typeface="Source Sans Pro"/>
              <a:ea typeface="Source Sans Pro"/>
              <a:cs typeface="Source Sans Pro"/>
              <a:sym typeface="Source Sans Pro"/>
            </a:endParaRPr>
          </a:p>
          <a:p>
            <a:pPr indent="0" lvl="0" marL="0" rtl="0" algn="l">
              <a:spcBef>
                <a:spcPts val="300"/>
              </a:spcBef>
              <a:spcAft>
                <a:spcPts val="0"/>
              </a:spcAft>
              <a:buNone/>
            </a:pPr>
            <a:r>
              <a:rPr b="1" lang="es" sz="1200">
                <a:solidFill>
                  <a:schemeClr val="dk1"/>
                </a:solidFill>
                <a:latin typeface="Source Sans Pro"/>
                <a:ea typeface="Source Sans Pro"/>
                <a:cs typeface="Source Sans Pro"/>
                <a:sym typeface="Source Sans Pro"/>
              </a:rPr>
              <a:t>➢ ANNEX I: Complete list of profiles &amp; Decree </a:t>
            </a:r>
            <a:endParaRPr b="1" sz="1200">
              <a:latin typeface="Source Sans Pro"/>
              <a:ea typeface="Source Sans Pro"/>
              <a:cs typeface="Source Sans Pro"/>
              <a:sym typeface="Source Sans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91" name="Google Shape;91;p17"/>
          <p:cNvSpPr txBox="1"/>
          <p:nvPr/>
        </p:nvSpPr>
        <p:spPr>
          <a:xfrm>
            <a:off x="859225" y="694450"/>
            <a:ext cx="7736700" cy="585000"/>
          </a:xfrm>
          <a:prstGeom prst="rect">
            <a:avLst/>
          </a:prstGeom>
          <a:noFill/>
          <a:ln>
            <a:noFill/>
          </a:ln>
        </p:spPr>
        <p:txBody>
          <a:bodyPr anchorCtr="0" anchor="t" bIns="91425" lIns="91425" spcFirstLastPara="1" rIns="91425" wrap="square" tIns="91425">
            <a:spAutoFit/>
          </a:bodyPr>
          <a:lstStyle/>
          <a:p>
            <a:pPr indent="0" lvl="0" marL="457200" rtl="0" algn="l">
              <a:spcBef>
                <a:spcPts val="1800"/>
              </a:spcBef>
              <a:spcAft>
                <a:spcPts val="1000"/>
              </a:spcAft>
              <a:buNone/>
            </a:pPr>
            <a:r>
              <a:rPr b="1" lang="es" sz="2600" cap="small">
                <a:solidFill>
                  <a:schemeClr val="dk1"/>
                </a:solidFill>
                <a:latin typeface="Source Sans Pro"/>
                <a:ea typeface="Source Sans Pro"/>
                <a:cs typeface="Source Sans Pro"/>
                <a:sym typeface="Source Sans Pro"/>
              </a:rPr>
              <a:t>1.</a:t>
            </a:r>
            <a:r>
              <a:rPr b="1" lang="es" sz="2600" cap="small">
                <a:solidFill>
                  <a:schemeClr val="dk1"/>
                </a:solidFill>
                <a:latin typeface="Source Sans Pro"/>
                <a:ea typeface="Source Sans Pro"/>
                <a:cs typeface="Source Sans Pro"/>
                <a:sym typeface="Source Sans Pro"/>
              </a:rPr>
              <a:t>Objective and Scope of the Comparison Document</a:t>
            </a:r>
            <a:endParaRPr/>
          </a:p>
        </p:txBody>
      </p:sp>
      <p:sp>
        <p:nvSpPr>
          <p:cNvPr id="92" name="Google Shape;92;p17"/>
          <p:cNvSpPr txBox="1"/>
          <p:nvPr/>
        </p:nvSpPr>
        <p:spPr>
          <a:xfrm>
            <a:off x="332575" y="1482400"/>
            <a:ext cx="8643600" cy="28062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b="1" lang="es" sz="1200">
                <a:highlight>
                  <a:srgbClr val="FFFFFF"/>
                </a:highlight>
                <a:latin typeface="Source Sans Pro"/>
                <a:ea typeface="Source Sans Pro"/>
                <a:cs typeface="Source Sans Pro"/>
                <a:sym typeface="Source Sans Pro"/>
              </a:rPr>
              <a:t>Enisa </a:t>
            </a:r>
            <a:r>
              <a:rPr lang="es" sz="1200">
                <a:solidFill>
                  <a:srgbClr val="222222"/>
                </a:solidFill>
                <a:highlight>
                  <a:srgbClr val="FFFFFF"/>
                </a:highlight>
                <a:latin typeface="Source Sans Pro"/>
                <a:ea typeface="Source Sans Pro"/>
                <a:cs typeface="Source Sans Pro"/>
                <a:sym typeface="Source Sans Pro"/>
              </a:rPr>
              <a:t>is the </a:t>
            </a:r>
            <a:r>
              <a:rPr b="1" lang="es" sz="1200">
                <a:solidFill>
                  <a:srgbClr val="222222"/>
                </a:solidFill>
                <a:highlight>
                  <a:srgbClr val="FFFFFF"/>
                </a:highlight>
                <a:latin typeface="Source Sans Pro"/>
                <a:ea typeface="Source Sans Pro"/>
                <a:cs typeface="Source Sans Pro"/>
                <a:sym typeface="Source Sans Pro"/>
              </a:rPr>
              <a:t>European Cybersecurity Agency</a:t>
            </a:r>
            <a:r>
              <a:rPr lang="es" sz="1200">
                <a:solidFill>
                  <a:srgbClr val="222222"/>
                </a:solidFill>
                <a:highlight>
                  <a:srgbClr val="FFFFFF"/>
                </a:highlight>
                <a:latin typeface="Source Sans Pro"/>
                <a:ea typeface="Source Sans Pro"/>
                <a:cs typeface="Source Sans Pro"/>
                <a:sym typeface="Source Sans Pro"/>
              </a:rPr>
              <a:t>, and it has </a:t>
            </a:r>
            <a:r>
              <a:rPr b="1" lang="es" sz="1200">
                <a:solidFill>
                  <a:srgbClr val="222222"/>
                </a:solidFill>
                <a:highlight>
                  <a:srgbClr val="FFFFFF"/>
                </a:highlight>
                <a:latin typeface="Source Sans Pro"/>
                <a:ea typeface="Source Sans Pro"/>
                <a:cs typeface="Source Sans Pro"/>
                <a:sym typeface="Source Sans Pro"/>
              </a:rPr>
              <a:t>defined the roles and profiles </a:t>
            </a:r>
            <a:r>
              <a:rPr lang="es" sz="1200">
                <a:solidFill>
                  <a:srgbClr val="222222"/>
                </a:solidFill>
                <a:highlight>
                  <a:srgbClr val="FFFFFF"/>
                </a:highlight>
                <a:latin typeface="Source Sans Pro"/>
                <a:ea typeface="Source Sans Pro"/>
                <a:cs typeface="Source Sans Pro"/>
                <a:sym typeface="Source Sans Pro"/>
              </a:rPr>
              <a:t>of cybersecurity technicians needed to cover the cybersecurity field in companies and organizations. The </a:t>
            </a:r>
            <a:r>
              <a:rPr lang="es" sz="1200">
                <a:solidFill>
                  <a:srgbClr val="212529"/>
                </a:solidFill>
                <a:latin typeface="Source Sans Pro"/>
                <a:ea typeface="Source Sans Pro"/>
                <a:cs typeface="Source Sans Pro"/>
                <a:sym typeface="Source Sans Pro"/>
              </a:rPr>
              <a:t>main objective of this framework is to create a common understanding between individuals, employers, and training program providers in EU Member States.</a:t>
            </a:r>
            <a:endParaRPr sz="1200">
              <a:solidFill>
                <a:srgbClr val="212529"/>
              </a:solidFill>
              <a:latin typeface="Source Sans Pro"/>
              <a:ea typeface="Source Sans Pro"/>
              <a:cs typeface="Source Sans Pro"/>
              <a:sym typeface="Source Sans Pro"/>
            </a:endParaRPr>
          </a:p>
          <a:p>
            <a:pPr indent="0" lvl="0" marL="0" rtl="0" algn="just">
              <a:lnSpc>
                <a:spcPct val="115000"/>
              </a:lnSpc>
              <a:spcBef>
                <a:spcPts val="0"/>
              </a:spcBef>
              <a:spcAft>
                <a:spcPts val="0"/>
              </a:spcAft>
              <a:buNone/>
            </a:pPr>
            <a:r>
              <a:t/>
            </a:r>
            <a:endParaRPr sz="1200">
              <a:solidFill>
                <a:srgbClr val="222222"/>
              </a:solidFill>
              <a:highlight>
                <a:srgbClr val="FFFFFF"/>
              </a:highlight>
              <a:latin typeface="Source Sans Pro"/>
              <a:ea typeface="Source Sans Pro"/>
              <a:cs typeface="Source Sans Pro"/>
              <a:sym typeface="Source Sans Pro"/>
            </a:endParaRPr>
          </a:p>
          <a:p>
            <a:pPr indent="0" lvl="0" marL="0" rtl="0" algn="just">
              <a:lnSpc>
                <a:spcPct val="128571"/>
              </a:lnSpc>
              <a:spcBef>
                <a:spcPts val="0"/>
              </a:spcBef>
              <a:spcAft>
                <a:spcPts val="0"/>
              </a:spcAft>
              <a:buNone/>
            </a:pPr>
            <a:r>
              <a:rPr lang="es" sz="1200">
                <a:solidFill>
                  <a:srgbClr val="1F1F1F"/>
                </a:solidFill>
                <a:highlight>
                  <a:srgbClr val="F8F9FA"/>
                </a:highlight>
                <a:latin typeface="Source Sans Pro"/>
                <a:ea typeface="Source Sans Pro"/>
                <a:cs typeface="Source Sans Pro"/>
                <a:sym typeface="Source Sans Pro"/>
              </a:rPr>
              <a:t>The European Cybersecurity Skills Framework (</a:t>
            </a:r>
            <a:r>
              <a:rPr b="1" lang="es" sz="1200">
                <a:solidFill>
                  <a:srgbClr val="1F1F1F"/>
                </a:solidFill>
                <a:highlight>
                  <a:srgbClr val="F8F9FA"/>
                </a:highlight>
                <a:latin typeface="Source Sans Pro"/>
                <a:ea typeface="Source Sans Pro"/>
                <a:cs typeface="Source Sans Pro"/>
                <a:sym typeface="Source Sans Pro"/>
              </a:rPr>
              <a:t>ECSF</a:t>
            </a:r>
            <a:r>
              <a:rPr lang="es" sz="1200">
                <a:solidFill>
                  <a:srgbClr val="1F1F1F"/>
                </a:solidFill>
                <a:highlight>
                  <a:srgbClr val="F8F9FA"/>
                </a:highlight>
                <a:latin typeface="Source Sans Pro"/>
                <a:ea typeface="Source Sans Pro"/>
                <a:cs typeface="Source Sans Pro"/>
                <a:sym typeface="Source Sans Pro"/>
              </a:rPr>
              <a:t>) has defined </a:t>
            </a:r>
            <a:r>
              <a:rPr b="1" lang="es" sz="1200">
                <a:solidFill>
                  <a:srgbClr val="222222"/>
                </a:solidFill>
                <a:highlight>
                  <a:srgbClr val="FFFFFF"/>
                </a:highlight>
                <a:latin typeface="Source Sans Pro"/>
                <a:ea typeface="Source Sans Pro"/>
                <a:cs typeface="Source Sans Pro"/>
                <a:sym typeface="Source Sans Pro"/>
              </a:rPr>
              <a:t>12 profiles have been defined</a:t>
            </a:r>
            <a:r>
              <a:rPr lang="es" sz="1200">
                <a:solidFill>
                  <a:srgbClr val="222222"/>
                </a:solidFill>
                <a:highlight>
                  <a:srgbClr val="FFFFFF"/>
                </a:highlight>
                <a:latin typeface="Source Sans Pro"/>
                <a:ea typeface="Source Sans Pro"/>
                <a:cs typeface="Source Sans Pro"/>
                <a:sym typeface="Source Sans Pro"/>
              </a:rPr>
              <a:t> </a:t>
            </a:r>
            <a:r>
              <a:rPr lang="es" sz="1200">
                <a:solidFill>
                  <a:srgbClr val="212529"/>
                </a:solidFill>
                <a:latin typeface="Source Sans Pro"/>
                <a:ea typeface="Source Sans Pro"/>
                <a:cs typeface="Source Sans Pro"/>
                <a:sym typeface="Source Sans Pro"/>
              </a:rPr>
              <a:t>along with their titles, missions, tasks, skills, knowledge and competencies </a:t>
            </a:r>
            <a:r>
              <a:rPr lang="es" sz="1200">
                <a:solidFill>
                  <a:srgbClr val="222222"/>
                </a:solidFill>
                <a:highlight>
                  <a:srgbClr val="FFFFFF"/>
                </a:highlight>
                <a:latin typeface="Source Sans Pro"/>
                <a:ea typeface="Source Sans Pro"/>
                <a:cs typeface="Source Sans Pro"/>
                <a:sym typeface="Source Sans Pro"/>
              </a:rPr>
              <a:t>that we could group into different groups, some management profiles (CISO) and regulations, risk manager profiles, incidents and threats, technical profiles of architecture design, technical auditing, forensics or pentesting and trainer and researcher profiles</a:t>
            </a:r>
            <a:endParaRPr sz="1200">
              <a:solidFill>
                <a:srgbClr val="222222"/>
              </a:solidFill>
              <a:highlight>
                <a:srgbClr val="FFFFFF"/>
              </a:highlight>
              <a:latin typeface="Source Sans Pro"/>
              <a:ea typeface="Source Sans Pro"/>
              <a:cs typeface="Source Sans Pro"/>
              <a:sym typeface="Source Sans Pro"/>
            </a:endParaRPr>
          </a:p>
          <a:p>
            <a:pPr indent="0" lvl="0" marL="0" rtl="0" algn="just">
              <a:lnSpc>
                <a:spcPct val="115000"/>
              </a:lnSpc>
              <a:spcBef>
                <a:spcPts val="0"/>
              </a:spcBef>
              <a:spcAft>
                <a:spcPts val="0"/>
              </a:spcAft>
              <a:buNone/>
            </a:pPr>
            <a:r>
              <a:t/>
            </a:r>
            <a:endParaRPr sz="1200">
              <a:solidFill>
                <a:srgbClr val="222222"/>
              </a:solidFill>
              <a:highlight>
                <a:srgbClr val="FFFFFF"/>
              </a:highlight>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lang="es" sz="1200">
                <a:solidFill>
                  <a:srgbClr val="222222"/>
                </a:solidFill>
                <a:highlight>
                  <a:srgbClr val="FFFFFF"/>
                </a:highlight>
                <a:latin typeface="Source Sans Pro"/>
                <a:ea typeface="Source Sans Pro"/>
                <a:cs typeface="Source Sans Pro"/>
                <a:sym typeface="Source Sans Pro"/>
              </a:rPr>
              <a:t>The </a:t>
            </a:r>
            <a:r>
              <a:rPr b="1" lang="es" sz="1200">
                <a:solidFill>
                  <a:srgbClr val="222222"/>
                </a:solidFill>
                <a:highlight>
                  <a:srgbClr val="FFFFFF"/>
                </a:highlight>
                <a:latin typeface="Source Sans Pro"/>
                <a:ea typeface="Source Sans Pro"/>
                <a:cs typeface="Source Sans Pro"/>
                <a:sym typeface="Source Sans Pro"/>
              </a:rPr>
              <a:t>Tknika cybersecurity group analyzed these profiles and compared them with the existing decrees </a:t>
            </a:r>
            <a:r>
              <a:rPr lang="es" sz="1200">
                <a:solidFill>
                  <a:srgbClr val="222222"/>
                </a:solidFill>
                <a:highlight>
                  <a:srgbClr val="FFFFFF"/>
                </a:highlight>
                <a:latin typeface="Source Sans Pro"/>
                <a:ea typeface="Source Sans Pro"/>
                <a:cs typeface="Source Sans Pro"/>
                <a:sym typeface="Source Sans Pro"/>
              </a:rPr>
              <a:t>that regulate cybersecurity specialization courses in the </a:t>
            </a:r>
            <a:r>
              <a:rPr b="1" lang="es" sz="1200">
                <a:solidFill>
                  <a:srgbClr val="222222"/>
                </a:solidFill>
                <a:highlight>
                  <a:srgbClr val="FFFFFF"/>
                </a:highlight>
                <a:latin typeface="Source Sans Pro"/>
                <a:ea typeface="Source Sans Pro"/>
                <a:cs typeface="Source Sans Pro"/>
                <a:sym typeface="Source Sans Pro"/>
              </a:rPr>
              <a:t>IT and OT</a:t>
            </a:r>
            <a:r>
              <a:rPr lang="es" sz="1200">
                <a:solidFill>
                  <a:srgbClr val="222222"/>
                </a:solidFill>
                <a:highlight>
                  <a:srgbClr val="FFFFFF"/>
                </a:highlight>
                <a:latin typeface="Source Sans Pro"/>
                <a:ea typeface="Source Sans Pro"/>
                <a:cs typeface="Source Sans Pro"/>
                <a:sym typeface="Source Sans Pro"/>
              </a:rPr>
              <a:t> fields, comparing the profiles' mission, tasks, skills, and knowledge with the competencies, learning outcomes, and content of the different modules.</a:t>
            </a:r>
            <a:endParaRPr sz="1200">
              <a:solidFill>
                <a:schemeClr val="dk1"/>
              </a:solidFill>
              <a:latin typeface="Source Sans Pro"/>
              <a:ea typeface="Source Sans Pro"/>
              <a:cs typeface="Source Sans Pro"/>
              <a:sym typeface="Source Sans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98" name="Google Shape;98;p18"/>
          <p:cNvSpPr txBox="1"/>
          <p:nvPr/>
        </p:nvSpPr>
        <p:spPr>
          <a:xfrm>
            <a:off x="159600" y="588525"/>
            <a:ext cx="8984400" cy="9852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2. </a:t>
            </a:r>
            <a:r>
              <a:rPr b="1" lang="es" sz="2600" cap="small">
                <a:solidFill>
                  <a:schemeClr val="dk1"/>
                </a:solidFill>
                <a:latin typeface="Source Sans Pro"/>
                <a:ea typeface="Source Sans Pro"/>
                <a:cs typeface="Source Sans Pro"/>
                <a:sym typeface="Source Sans Pro"/>
              </a:rPr>
              <a:t>Presentation of ENISA and the European Cybersecurity Competence Framework (ECSF)</a:t>
            </a:r>
            <a:endParaRPr b="1" sz="2600" cap="small">
              <a:solidFill>
                <a:srgbClr val="CFDA2D"/>
              </a:solidFill>
              <a:latin typeface="Source Sans Pro"/>
              <a:ea typeface="Source Sans Pro"/>
              <a:cs typeface="Source Sans Pro"/>
              <a:sym typeface="Source Sans Pro"/>
            </a:endParaRPr>
          </a:p>
        </p:txBody>
      </p:sp>
      <p:sp>
        <p:nvSpPr>
          <p:cNvPr id="99" name="Google Shape;99;p18"/>
          <p:cNvSpPr txBox="1"/>
          <p:nvPr/>
        </p:nvSpPr>
        <p:spPr>
          <a:xfrm>
            <a:off x="470200" y="1517725"/>
            <a:ext cx="8420100" cy="1391400"/>
          </a:xfrm>
          <a:prstGeom prst="rect">
            <a:avLst/>
          </a:prstGeom>
          <a:noFill/>
          <a:ln>
            <a:noFill/>
          </a:ln>
        </p:spPr>
        <p:txBody>
          <a:bodyPr anchorCtr="0" anchor="t" bIns="91425" lIns="91425" spcFirstLastPara="1" rIns="91425" wrap="square" tIns="91425">
            <a:spAutoFit/>
          </a:bodyPr>
          <a:lstStyle/>
          <a:p>
            <a:pPr indent="0" lvl="0" marL="0" rtl="0" algn="just">
              <a:spcBef>
                <a:spcPts val="600"/>
              </a:spcBef>
              <a:spcAft>
                <a:spcPts val="0"/>
              </a:spcAft>
              <a:buNone/>
            </a:pPr>
            <a:r>
              <a:rPr b="1" lang="es" sz="2000">
                <a:solidFill>
                  <a:schemeClr val="dk1"/>
                </a:solidFill>
                <a:latin typeface="Source Sans Pro"/>
                <a:ea typeface="Source Sans Pro"/>
                <a:cs typeface="Source Sans Pro"/>
                <a:sym typeface="Source Sans Pro"/>
              </a:rPr>
              <a:t>2.1 ENISA</a:t>
            </a:r>
            <a:endParaRPr/>
          </a:p>
          <a:p>
            <a:pPr indent="457200" lvl="0" marL="0" rtl="0" algn="just">
              <a:lnSpc>
                <a:spcPct val="115000"/>
              </a:lnSpc>
              <a:spcBef>
                <a:spcPts val="600"/>
              </a:spcBef>
              <a:spcAft>
                <a:spcPts val="0"/>
              </a:spcAft>
              <a:buNone/>
            </a:pPr>
            <a:r>
              <a:rPr lang="es" sz="1200" u="sng">
                <a:solidFill>
                  <a:schemeClr val="hlink"/>
                </a:solidFill>
                <a:highlight>
                  <a:srgbClr val="FFFFFF"/>
                </a:highlight>
                <a:latin typeface="Source Sans Pro"/>
                <a:ea typeface="Source Sans Pro"/>
                <a:cs typeface="Source Sans Pro"/>
                <a:sym typeface="Source Sans Pro"/>
                <a:hlinkClick r:id="rId3"/>
              </a:rPr>
              <a:t>ENISA </a:t>
            </a:r>
            <a:r>
              <a:rPr lang="es" sz="1200">
                <a:solidFill>
                  <a:schemeClr val="dk1"/>
                </a:solidFill>
                <a:latin typeface="Source Sans Pro"/>
                <a:ea typeface="Source Sans Pro"/>
                <a:cs typeface="Source Sans Pro"/>
                <a:sym typeface="Source Sans Pro"/>
              </a:rPr>
              <a:t>(European Union Agency for Cybersecurity) is the European Union's cybersecurity agency. It was established in 2004 and is based in Athens and Heraklion, Greece. It is the official body responsible for </a:t>
            </a:r>
            <a:r>
              <a:rPr b="1" lang="es" sz="1200">
                <a:solidFill>
                  <a:schemeClr val="dk1"/>
                </a:solidFill>
                <a:latin typeface="Source Sans Pro"/>
                <a:ea typeface="Source Sans Pro"/>
                <a:cs typeface="Source Sans Pro"/>
                <a:sym typeface="Source Sans Pro"/>
              </a:rPr>
              <a:t>improving cybersecurity in the European Union </a:t>
            </a:r>
            <a:r>
              <a:rPr lang="es" sz="1200">
                <a:solidFill>
                  <a:schemeClr val="dk1"/>
                </a:solidFill>
                <a:latin typeface="Source Sans Pro"/>
                <a:ea typeface="Source Sans Pro"/>
                <a:cs typeface="Source Sans Pro"/>
                <a:sym typeface="Source Sans Pro"/>
              </a:rPr>
              <a:t>. Its main mission is to help Member States, European institutions, and the private sector </a:t>
            </a:r>
            <a:r>
              <a:rPr b="1" lang="es" sz="1200">
                <a:solidFill>
                  <a:schemeClr val="dk1"/>
                </a:solidFill>
                <a:latin typeface="Source Sans Pro"/>
                <a:ea typeface="Source Sans Pro"/>
                <a:cs typeface="Source Sans Pro"/>
                <a:sym typeface="Source Sans Pro"/>
              </a:rPr>
              <a:t>strengthen their capabilities </a:t>
            </a:r>
            <a:r>
              <a:rPr lang="es" sz="1200">
                <a:solidFill>
                  <a:schemeClr val="dk1"/>
                </a:solidFill>
                <a:latin typeface="Source Sans Pro"/>
                <a:ea typeface="Source Sans Pro"/>
                <a:cs typeface="Source Sans Pro"/>
                <a:sym typeface="Source Sans Pro"/>
              </a:rPr>
              <a:t>against cyber threats by promoting a common culture of digital security.</a:t>
            </a:r>
            <a:endParaRPr sz="1200">
              <a:solidFill>
                <a:schemeClr val="dk1"/>
              </a:solidFill>
              <a:latin typeface="Source Sans Pro"/>
              <a:ea typeface="Source Sans Pro"/>
              <a:cs typeface="Source Sans Pro"/>
              <a:sym typeface="Source Sans Pro"/>
            </a:endParaRPr>
          </a:p>
        </p:txBody>
      </p:sp>
      <p:sp>
        <p:nvSpPr>
          <p:cNvPr id="100" name="Google Shape;100;p18"/>
          <p:cNvSpPr txBox="1"/>
          <p:nvPr/>
        </p:nvSpPr>
        <p:spPr>
          <a:xfrm>
            <a:off x="2752300" y="3033975"/>
            <a:ext cx="3855900" cy="16440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lang="es" sz="1200">
                <a:solidFill>
                  <a:srgbClr val="222222"/>
                </a:solidFill>
                <a:highlight>
                  <a:srgbClr val="FFFFFF"/>
                </a:highlight>
                <a:latin typeface="Source Sans Pro"/>
                <a:ea typeface="Source Sans Pro"/>
                <a:cs typeface="Source Sans Pro"/>
                <a:sym typeface="Source Sans Pro"/>
              </a:rPr>
              <a:t>Main </a:t>
            </a:r>
            <a:r>
              <a:rPr lang="es" sz="1200">
                <a:solidFill>
                  <a:schemeClr val="dk1"/>
                </a:solidFill>
                <a:latin typeface="Source Sans Pro"/>
                <a:ea typeface="Source Sans Pro"/>
                <a:cs typeface="Source Sans Pro"/>
                <a:sym typeface="Source Sans Pro"/>
              </a:rPr>
              <a:t>tasks of ENISA:</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rabicPeriod"/>
            </a:pPr>
            <a:r>
              <a:rPr lang="es" sz="1200">
                <a:solidFill>
                  <a:schemeClr val="dk1"/>
                </a:solidFill>
                <a:latin typeface="Source Sans Pro"/>
                <a:ea typeface="Source Sans Pro"/>
                <a:cs typeface="Source Sans Pro"/>
                <a:sym typeface="Source Sans Pro"/>
              </a:rPr>
              <a:t>Strategic and technical advice</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rabicPeriod"/>
            </a:pPr>
            <a:r>
              <a:rPr lang="es" sz="1200">
                <a:solidFill>
                  <a:schemeClr val="dk1"/>
                </a:solidFill>
                <a:latin typeface="Source Sans Pro"/>
                <a:ea typeface="Source Sans Pro"/>
                <a:cs typeface="Source Sans Pro"/>
                <a:sym typeface="Source Sans Pro"/>
              </a:rPr>
              <a:t>Risk and policy management</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rabicPeriod"/>
            </a:pPr>
            <a:r>
              <a:rPr lang="es" sz="1200">
                <a:solidFill>
                  <a:schemeClr val="dk1"/>
                </a:solidFill>
                <a:latin typeface="Source Sans Pro"/>
                <a:ea typeface="Source Sans Pro"/>
                <a:cs typeface="Source Sans Pro"/>
                <a:sym typeface="Source Sans Pro"/>
              </a:rPr>
              <a:t>Training and awareness</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rabicPeriod"/>
            </a:pPr>
            <a:r>
              <a:rPr lang="es" sz="1200">
                <a:solidFill>
                  <a:schemeClr val="dk1"/>
                </a:solidFill>
                <a:latin typeface="Source Sans Pro"/>
                <a:ea typeface="Source Sans Pro"/>
                <a:cs typeface="Source Sans Pro"/>
                <a:sym typeface="Source Sans Pro"/>
              </a:rPr>
              <a:t>Support for CSIRTs</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rabicPeriod"/>
            </a:pPr>
            <a:r>
              <a:rPr lang="es" sz="1200">
                <a:solidFill>
                  <a:schemeClr val="dk1"/>
                </a:solidFill>
                <a:latin typeface="Source Sans Pro"/>
                <a:ea typeface="Source Sans Pro"/>
                <a:cs typeface="Source Sans Pro"/>
                <a:sym typeface="Source Sans Pro"/>
              </a:rPr>
              <a:t>Threat research and analysis</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rabicPeriod"/>
            </a:pPr>
            <a:r>
              <a:rPr lang="es" sz="1200">
                <a:solidFill>
                  <a:schemeClr val="dk1"/>
                </a:solidFill>
                <a:latin typeface="Source Sans Pro"/>
                <a:ea typeface="Source Sans Pro"/>
                <a:cs typeface="Source Sans Pro"/>
                <a:sym typeface="Source Sans Pro"/>
              </a:rPr>
              <a:t>Cybersecurity Certification</a:t>
            </a:r>
            <a:endParaRPr sz="1200">
              <a:solidFill>
                <a:schemeClr val="dk1"/>
              </a:solidFill>
              <a:latin typeface="Source Sans Pro"/>
              <a:ea typeface="Source Sans Pro"/>
              <a:cs typeface="Source Sans Pro"/>
              <a:sym typeface="Source Sans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106" name="Google Shape;106;p19"/>
          <p:cNvSpPr txBox="1"/>
          <p:nvPr/>
        </p:nvSpPr>
        <p:spPr>
          <a:xfrm>
            <a:off x="298175" y="612050"/>
            <a:ext cx="8568600" cy="492600"/>
          </a:xfrm>
          <a:prstGeom prst="rect">
            <a:avLst/>
          </a:prstGeom>
          <a:noFill/>
          <a:ln>
            <a:noFill/>
          </a:ln>
        </p:spPr>
        <p:txBody>
          <a:bodyPr anchorCtr="0" anchor="t" bIns="91425" lIns="91425" spcFirstLastPara="1" rIns="91425" wrap="square" tIns="91425">
            <a:spAutoFit/>
          </a:bodyPr>
          <a:lstStyle/>
          <a:p>
            <a:pPr indent="0" lvl="0" marL="914400" rtl="0" algn="just">
              <a:spcBef>
                <a:spcPts val="600"/>
              </a:spcBef>
              <a:spcAft>
                <a:spcPts val="600"/>
              </a:spcAft>
              <a:buNone/>
            </a:pPr>
            <a:r>
              <a:rPr b="1" lang="es" sz="2000">
                <a:solidFill>
                  <a:schemeClr val="dk1"/>
                </a:solidFill>
                <a:latin typeface="Source Sans Pro"/>
                <a:ea typeface="Source Sans Pro"/>
                <a:cs typeface="Source Sans Pro"/>
                <a:sym typeface="Source Sans Pro"/>
              </a:rPr>
              <a:t>2.2 </a:t>
            </a:r>
            <a:r>
              <a:rPr b="1" lang="es" sz="2000">
                <a:solidFill>
                  <a:schemeClr val="dk1"/>
                </a:solidFill>
                <a:latin typeface="Source Sans Pro"/>
                <a:ea typeface="Source Sans Pro"/>
                <a:cs typeface="Source Sans Pro"/>
                <a:sym typeface="Source Sans Pro"/>
              </a:rPr>
              <a:t>European Cybersecurity Competence Framework (ECSF)</a:t>
            </a:r>
            <a:endParaRPr/>
          </a:p>
        </p:txBody>
      </p:sp>
      <p:sp>
        <p:nvSpPr>
          <p:cNvPr id="107" name="Google Shape;107;p19"/>
          <p:cNvSpPr txBox="1"/>
          <p:nvPr/>
        </p:nvSpPr>
        <p:spPr>
          <a:xfrm>
            <a:off x="491400" y="1258775"/>
            <a:ext cx="8161200" cy="38019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lang="es" sz="1200">
                <a:solidFill>
                  <a:srgbClr val="222222"/>
                </a:solidFill>
                <a:highlight>
                  <a:srgbClr val="FFFFFF"/>
                </a:highlight>
                <a:latin typeface="Source Sans Pro"/>
                <a:ea typeface="Source Sans Pro"/>
                <a:cs typeface="Source Sans Pro"/>
                <a:sym typeface="Source Sans Pro"/>
              </a:rPr>
              <a:t>The European Cybersecurity Skills Framework ( </a:t>
            </a:r>
            <a:r>
              <a:rPr lang="es" sz="1200" u="sng">
                <a:solidFill>
                  <a:srgbClr val="1155CC"/>
                </a:solidFill>
                <a:highlight>
                  <a:srgbClr val="FFFFFF"/>
                </a:highlight>
                <a:latin typeface="Source Sans Pro"/>
                <a:ea typeface="Source Sans Pro"/>
                <a:cs typeface="Source Sans Pro"/>
                <a:sym typeface="Source Sans Pro"/>
                <a:hlinkClick r:id="rId3">
                  <a:extLst>
                    <a:ext uri="{A12FA001-AC4F-418D-AE19-62706E023703}">
                      <ahyp:hlinkClr val="tx"/>
                    </a:ext>
                  </a:extLst>
                </a:hlinkClick>
              </a:rPr>
              <a:t>ECSF </a:t>
            </a:r>
            <a:r>
              <a:rPr lang="es" sz="1200">
                <a:solidFill>
                  <a:srgbClr val="222222"/>
                </a:solidFill>
                <a:highlight>
                  <a:srgbClr val="FFFFFF"/>
                </a:highlight>
                <a:latin typeface="Source Sans Pro"/>
                <a:ea typeface="Source Sans Pro"/>
                <a:cs typeface="Source Sans Pro"/>
                <a:sym typeface="Source Sans Pro"/>
              </a:rPr>
              <a:t>) is an initiative developed by ENISA (the European Union Agency for Cybersecurity) to establish a common language on the roles, skills and knowledge needed in the field of cybersecurity within Europe.</a:t>
            </a:r>
            <a:endParaRPr sz="1200">
              <a:solidFill>
                <a:srgbClr val="222222"/>
              </a:solidFill>
              <a:highlight>
                <a:srgbClr val="FFFFFF"/>
              </a:highlight>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lang="es" sz="1200">
                <a:solidFill>
                  <a:srgbClr val="222222"/>
                </a:solidFill>
                <a:highlight>
                  <a:srgbClr val="FFFFFF"/>
                </a:highlight>
                <a:latin typeface="Source Sans Pro"/>
                <a:ea typeface="Source Sans Pro"/>
                <a:cs typeface="Source Sans Pro"/>
                <a:sym typeface="Source Sans Pro"/>
              </a:rPr>
              <a:t>The ECSF is a structured model that defines and classifies cybersecurity professional roles, describing for each:</a:t>
            </a:r>
            <a:endParaRPr sz="1200">
              <a:solidFill>
                <a:srgbClr val="222222"/>
              </a:solidFill>
              <a:highlight>
                <a:srgbClr val="FFFFFF"/>
              </a:highlight>
              <a:latin typeface="Source Sans Pro"/>
              <a:ea typeface="Source Sans Pro"/>
              <a:cs typeface="Source Sans Pro"/>
              <a:sym typeface="Source Sans Pro"/>
            </a:endParaRPr>
          </a:p>
          <a:p>
            <a:pPr indent="-304800" lvl="0" marL="914400" rtl="0" algn="just">
              <a:spcBef>
                <a:spcPts val="200"/>
              </a:spcBef>
              <a:spcAft>
                <a:spcPts val="0"/>
              </a:spcAft>
              <a:buClr>
                <a:schemeClr val="dk1"/>
              </a:buClr>
              <a:buSzPts val="1200"/>
              <a:buFont typeface="Source Sans Pro"/>
              <a:buChar char="●"/>
            </a:pPr>
            <a:r>
              <a:rPr lang="es" sz="1200">
                <a:solidFill>
                  <a:schemeClr val="dk1"/>
                </a:solidFill>
                <a:latin typeface="Source Sans Pro"/>
                <a:ea typeface="Source Sans Pro"/>
                <a:cs typeface="Source Sans Pro"/>
                <a:sym typeface="Source Sans Pro"/>
              </a:rPr>
              <a:t>Its main functions and tasks,</a:t>
            </a:r>
            <a:endParaRPr sz="1200">
              <a:solidFill>
                <a:schemeClr val="dk1"/>
              </a:solidFill>
              <a:latin typeface="Source Sans Pro"/>
              <a:ea typeface="Source Sans Pro"/>
              <a:cs typeface="Source Sans Pro"/>
              <a:sym typeface="Source Sans Pro"/>
            </a:endParaRPr>
          </a:p>
          <a:p>
            <a:pPr indent="-304800" lvl="0" marL="914400" rtl="0" algn="just">
              <a:spcBef>
                <a:spcPts val="200"/>
              </a:spcBef>
              <a:spcAft>
                <a:spcPts val="0"/>
              </a:spcAft>
              <a:buClr>
                <a:schemeClr val="dk1"/>
              </a:buClr>
              <a:buSzPts val="1200"/>
              <a:buFont typeface="Source Sans Pro"/>
              <a:buChar char="●"/>
            </a:pPr>
            <a:r>
              <a:rPr lang="es" sz="1200">
                <a:solidFill>
                  <a:schemeClr val="dk1"/>
                </a:solidFill>
                <a:latin typeface="Source Sans Pro"/>
                <a:ea typeface="Source Sans Pro"/>
                <a:cs typeface="Source Sans Pro"/>
                <a:sym typeface="Source Sans Pro"/>
              </a:rPr>
              <a:t>The technical and non-technical skills required,</a:t>
            </a:r>
            <a:endParaRPr sz="1200">
              <a:solidFill>
                <a:schemeClr val="dk1"/>
              </a:solidFill>
              <a:latin typeface="Source Sans Pro"/>
              <a:ea typeface="Source Sans Pro"/>
              <a:cs typeface="Source Sans Pro"/>
              <a:sym typeface="Source Sans Pro"/>
            </a:endParaRPr>
          </a:p>
          <a:p>
            <a:pPr indent="-304800" lvl="0" marL="914400" rtl="0" algn="just">
              <a:spcBef>
                <a:spcPts val="200"/>
              </a:spcBef>
              <a:spcAft>
                <a:spcPts val="0"/>
              </a:spcAft>
              <a:buClr>
                <a:schemeClr val="dk1"/>
              </a:buClr>
              <a:buSzPts val="1200"/>
              <a:buFont typeface="Source Sans Pro"/>
              <a:buChar char="●"/>
            </a:pPr>
            <a:r>
              <a:rPr lang="es" sz="1200">
                <a:solidFill>
                  <a:schemeClr val="dk1"/>
                </a:solidFill>
                <a:latin typeface="Source Sans Pro"/>
                <a:ea typeface="Source Sans Pro"/>
                <a:cs typeface="Source Sans Pro"/>
                <a:sym typeface="Source Sans Pro"/>
              </a:rPr>
              <a:t>The associated fundamental knowledge.</a:t>
            </a:r>
            <a:endParaRPr sz="1200">
              <a:solidFill>
                <a:schemeClr val="dk1"/>
              </a:solidFill>
              <a:latin typeface="Source Sans Pro"/>
              <a:ea typeface="Source Sans Pro"/>
              <a:cs typeface="Source Sans Pro"/>
              <a:sym typeface="Source Sans Pro"/>
            </a:endParaRPr>
          </a:p>
          <a:p>
            <a:pPr indent="0" lvl="0" marL="0" rtl="0" algn="just">
              <a:spcBef>
                <a:spcPts val="20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just">
              <a:spcBef>
                <a:spcPts val="20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just">
              <a:spcBef>
                <a:spcPts val="20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just">
              <a:spcBef>
                <a:spcPts val="20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just">
              <a:spcBef>
                <a:spcPts val="200"/>
              </a:spcBef>
              <a:spcAft>
                <a:spcPts val="0"/>
              </a:spcAft>
              <a:buNone/>
            </a:pPr>
            <a:r>
              <a:t/>
            </a:r>
            <a:endParaRPr sz="1200">
              <a:solidFill>
                <a:schemeClr val="dk1"/>
              </a:solidFill>
              <a:latin typeface="Source Sans Pro"/>
              <a:ea typeface="Source Sans Pro"/>
              <a:cs typeface="Source Sans Pro"/>
              <a:sym typeface="Source Sans Pro"/>
            </a:endParaRPr>
          </a:p>
          <a:p>
            <a:pPr indent="0" lvl="0" marL="0" rtl="0" algn="just">
              <a:spcBef>
                <a:spcPts val="200"/>
              </a:spcBef>
              <a:spcAft>
                <a:spcPts val="0"/>
              </a:spcAft>
              <a:buNone/>
            </a:pPr>
            <a:r>
              <a:t/>
            </a:r>
            <a:endParaRPr sz="1200">
              <a:solidFill>
                <a:schemeClr val="dk1"/>
              </a:solidFill>
              <a:latin typeface="Source Sans Pro"/>
              <a:ea typeface="Source Sans Pro"/>
              <a:cs typeface="Source Sans Pro"/>
              <a:sym typeface="Source Sans Pro"/>
            </a:endParaRPr>
          </a:p>
          <a:p>
            <a:pPr indent="0" lvl="0" marL="914400" rtl="0" algn="just">
              <a:spcBef>
                <a:spcPts val="200"/>
              </a:spcBef>
              <a:spcAft>
                <a:spcPts val="0"/>
              </a:spcAft>
              <a:buNone/>
            </a:pPr>
            <a:r>
              <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200"/>
              </a:spcBef>
              <a:spcAft>
                <a:spcPts val="0"/>
              </a:spcAft>
              <a:buClr>
                <a:schemeClr val="dk1"/>
              </a:buClr>
              <a:buSzPts val="1100"/>
              <a:buFont typeface="Arial"/>
              <a:buNone/>
            </a:pPr>
            <a:r>
              <a:rPr lang="es" sz="1200">
                <a:solidFill>
                  <a:srgbClr val="222222"/>
                </a:solidFill>
                <a:highlight>
                  <a:srgbClr val="FFFFFF"/>
                </a:highlight>
                <a:latin typeface="Source Sans Pro"/>
                <a:ea typeface="Source Sans Pro"/>
                <a:cs typeface="Source Sans Pro"/>
                <a:sym typeface="Source Sans Pro"/>
              </a:rPr>
              <a:t>It is designed to align educational offerings, labor market needs, and public cybersecurity training policies.</a:t>
            </a:r>
            <a:endParaRPr sz="1200">
              <a:solidFill>
                <a:srgbClr val="222222"/>
              </a:solidFill>
              <a:highlight>
                <a:srgbClr val="FFFFFF"/>
              </a:highlight>
              <a:latin typeface="Source Sans Pro"/>
              <a:ea typeface="Source Sans Pro"/>
              <a:cs typeface="Source Sans Pro"/>
              <a:sym typeface="Source Sans Pro"/>
            </a:endParaRPr>
          </a:p>
          <a:p>
            <a:pPr indent="0" lvl="0" marL="914400" rtl="0" algn="just">
              <a:spcBef>
                <a:spcPts val="200"/>
              </a:spcBef>
              <a:spcAft>
                <a:spcPts val="200"/>
              </a:spcAft>
              <a:buNone/>
            </a:pPr>
            <a:br>
              <a:rPr lang="es" sz="1200">
                <a:solidFill>
                  <a:schemeClr val="dk1"/>
                </a:solidFill>
                <a:latin typeface="Source Sans Pro"/>
                <a:ea typeface="Source Sans Pro"/>
                <a:cs typeface="Source Sans Pro"/>
                <a:sym typeface="Source Sans Pro"/>
              </a:rPr>
            </a:br>
            <a:endParaRPr/>
          </a:p>
        </p:txBody>
      </p:sp>
      <p:pic>
        <p:nvPicPr>
          <p:cNvPr id="108" name="Google Shape;108;p19"/>
          <p:cNvPicPr preferRelativeResize="0"/>
          <p:nvPr/>
        </p:nvPicPr>
        <p:blipFill>
          <a:blip r:embed="rId4">
            <a:alphaModFix/>
          </a:blip>
          <a:stretch>
            <a:fillRect/>
          </a:stretch>
        </p:blipFill>
        <p:spPr>
          <a:xfrm>
            <a:off x="4945075" y="2274050"/>
            <a:ext cx="1485275" cy="2002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114" name="Google Shape;114;p20"/>
          <p:cNvSpPr txBox="1"/>
          <p:nvPr/>
        </p:nvSpPr>
        <p:spPr>
          <a:xfrm>
            <a:off x="258950" y="1220200"/>
            <a:ext cx="8220000" cy="33069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i="1" lang="es" sz="1500">
                <a:solidFill>
                  <a:srgbClr val="666666"/>
                </a:solidFill>
                <a:latin typeface="Georgia"/>
                <a:ea typeface="Georgia"/>
                <a:cs typeface="Georgia"/>
                <a:sym typeface="Georgia"/>
              </a:rPr>
              <a:t>Objectives of the ECSF:</a:t>
            </a:r>
            <a:endParaRPr sz="1200">
              <a:solidFill>
                <a:srgbClr val="222222"/>
              </a:solidFill>
              <a:highlight>
                <a:srgbClr val="FFFFFF"/>
              </a:highlight>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lphaUcPeriod"/>
            </a:pPr>
            <a:r>
              <a:rPr lang="es" sz="1200">
                <a:solidFill>
                  <a:schemeClr val="dk1"/>
                </a:solidFill>
                <a:latin typeface="Source Sans Pro"/>
                <a:ea typeface="Source Sans Pro"/>
                <a:cs typeface="Source Sans Pro"/>
                <a:sym typeface="Source Sans Pro"/>
              </a:rPr>
              <a:t>Establish a common language between companies, educational institutions and public administrations.</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lphaUcPeriod"/>
            </a:pPr>
            <a:r>
              <a:rPr lang="es" sz="1200">
                <a:solidFill>
                  <a:schemeClr val="dk1"/>
                </a:solidFill>
                <a:latin typeface="Source Sans Pro"/>
                <a:ea typeface="Source Sans Pro"/>
                <a:cs typeface="Source Sans Pro"/>
                <a:sym typeface="Source Sans Pro"/>
              </a:rPr>
              <a:t>Identify and classify professional roles in cybersecurity.</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lphaUcPeriod"/>
            </a:pPr>
            <a:r>
              <a:rPr lang="es" sz="1200">
                <a:solidFill>
                  <a:schemeClr val="dk1"/>
                </a:solidFill>
                <a:latin typeface="Source Sans Pro"/>
                <a:ea typeface="Source Sans Pro"/>
                <a:cs typeface="Source Sans Pro"/>
                <a:sym typeface="Source Sans Pro"/>
              </a:rPr>
              <a:t>Facilitate the design of training programs and certifications based on the real needs of the sector.</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lphaUcPeriod"/>
            </a:pPr>
            <a:r>
              <a:rPr lang="es" sz="1200">
                <a:solidFill>
                  <a:schemeClr val="dk1"/>
                </a:solidFill>
                <a:latin typeface="Source Sans Pro"/>
                <a:ea typeface="Source Sans Pro"/>
                <a:cs typeface="Source Sans Pro"/>
                <a:sym typeface="Source Sans Pro"/>
              </a:rPr>
              <a:t>Support career planning for professionals and recruitment for employers.</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lphaUcPeriod"/>
            </a:pPr>
            <a:r>
              <a:rPr lang="es" sz="1200">
                <a:solidFill>
                  <a:schemeClr val="dk1"/>
                </a:solidFill>
                <a:latin typeface="Source Sans Pro"/>
                <a:ea typeface="Source Sans Pro"/>
                <a:cs typeface="Source Sans Pro"/>
                <a:sym typeface="Source Sans Pro"/>
              </a:rPr>
              <a:t>Bridging the cybersecurity talent gap in Europe.</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000"/>
              </a:spcBef>
              <a:spcAft>
                <a:spcPts val="0"/>
              </a:spcAft>
              <a:buNone/>
            </a:pPr>
            <a:r>
              <a:t/>
            </a:r>
            <a:endParaRPr sz="1200">
              <a:solidFill>
                <a:srgbClr val="222222"/>
              </a:solidFill>
              <a:highlight>
                <a:srgbClr val="FFFFFF"/>
              </a:highlight>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lang="es" sz="1200">
                <a:solidFill>
                  <a:srgbClr val="222222"/>
                </a:solidFill>
                <a:highlight>
                  <a:srgbClr val="FFFFFF"/>
                </a:highlight>
                <a:latin typeface="Source Sans Pro"/>
                <a:ea typeface="Source Sans Pro"/>
                <a:cs typeface="Source Sans Pro"/>
                <a:sym typeface="Source Sans Pro"/>
              </a:rPr>
              <a:t>Who is it for?</a:t>
            </a:r>
            <a:endParaRPr sz="1200">
              <a:solidFill>
                <a:srgbClr val="222222"/>
              </a:solidFill>
              <a:highlight>
                <a:srgbClr val="FFFFFF"/>
              </a:highlight>
              <a:latin typeface="Source Sans Pro"/>
              <a:ea typeface="Source Sans Pro"/>
              <a:cs typeface="Source Sans Pro"/>
              <a:sym typeface="Source Sans Pro"/>
            </a:endParaRPr>
          </a:p>
          <a:p>
            <a:pPr indent="-304800" lvl="0" marL="914400" rtl="0" algn="just">
              <a:spcBef>
                <a:spcPts val="200"/>
              </a:spcBef>
              <a:spcAft>
                <a:spcPts val="0"/>
              </a:spcAft>
              <a:buClr>
                <a:schemeClr val="dk1"/>
              </a:buClr>
              <a:buSzPts val="1200"/>
              <a:buFont typeface="Source Sans Pro"/>
              <a:buChar char="●"/>
            </a:pPr>
            <a:r>
              <a:rPr lang="es" sz="1200">
                <a:solidFill>
                  <a:schemeClr val="dk1"/>
                </a:solidFill>
                <a:latin typeface="Source Sans Pro"/>
                <a:ea typeface="Source Sans Pro"/>
                <a:cs typeface="Source Sans Pro"/>
                <a:sym typeface="Source Sans Pro"/>
              </a:rPr>
              <a:t>Companies and employers: to define job descriptions and recruitment needs.</a:t>
            </a:r>
            <a:endParaRPr sz="1200">
              <a:solidFill>
                <a:schemeClr val="dk1"/>
              </a:solidFill>
              <a:latin typeface="Source Sans Pro"/>
              <a:ea typeface="Source Sans Pro"/>
              <a:cs typeface="Source Sans Pro"/>
              <a:sym typeface="Source Sans Pro"/>
            </a:endParaRPr>
          </a:p>
          <a:p>
            <a:pPr indent="-304800" lvl="0" marL="914400" rtl="0" algn="just">
              <a:spcBef>
                <a:spcPts val="200"/>
              </a:spcBef>
              <a:spcAft>
                <a:spcPts val="0"/>
              </a:spcAft>
              <a:buClr>
                <a:schemeClr val="dk1"/>
              </a:buClr>
              <a:buSzPts val="1200"/>
              <a:buFont typeface="Source Sans Pro"/>
              <a:buChar char="●"/>
            </a:pPr>
            <a:r>
              <a:rPr lang="es" sz="1200">
                <a:solidFill>
                  <a:schemeClr val="dk1"/>
                </a:solidFill>
                <a:latin typeface="Source Sans Pro"/>
                <a:ea typeface="Source Sans Pro"/>
                <a:cs typeface="Source Sans Pro"/>
                <a:sym typeface="Source Sans Pro"/>
              </a:rPr>
              <a:t>Trainers and universities: to align educational programs with the labor market.</a:t>
            </a:r>
            <a:endParaRPr sz="1200">
              <a:solidFill>
                <a:schemeClr val="dk1"/>
              </a:solidFill>
              <a:latin typeface="Source Sans Pro"/>
              <a:ea typeface="Source Sans Pro"/>
              <a:cs typeface="Source Sans Pro"/>
              <a:sym typeface="Source Sans Pro"/>
            </a:endParaRPr>
          </a:p>
          <a:p>
            <a:pPr indent="-304800" lvl="0" marL="914400" rtl="0" algn="just">
              <a:spcBef>
                <a:spcPts val="200"/>
              </a:spcBef>
              <a:spcAft>
                <a:spcPts val="0"/>
              </a:spcAft>
              <a:buClr>
                <a:schemeClr val="dk1"/>
              </a:buClr>
              <a:buSzPts val="1200"/>
              <a:buFont typeface="Source Sans Pro"/>
              <a:buChar char="●"/>
            </a:pPr>
            <a:r>
              <a:rPr lang="es" sz="1200">
                <a:solidFill>
                  <a:schemeClr val="dk1"/>
                </a:solidFill>
                <a:latin typeface="Source Sans Pro"/>
                <a:ea typeface="Source Sans Pro"/>
                <a:cs typeface="Source Sans Pro"/>
                <a:sym typeface="Source Sans Pro"/>
              </a:rPr>
              <a:t>Professionals: to guide the development of their skills and career.</a:t>
            </a:r>
            <a:br>
              <a:rPr lang="es" sz="1200">
                <a:solidFill>
                  <a:schemeClr val="dk1"/>
                </a:solidFill>
                <a:latin typeface="Source Sans Pro"/>
                <a:ea typeface="Source Sans Pro"/>
                <a:cs typeface="Source Sans Pro"/>
                <a:sym typeface="Source Sans Pro"/>
              </a:rPr>
            </a:br>
            <a:endParaRPr sz="1200">
              <a:solidFill>
                <a:schemeClr val="dk1"/>
              </a:solidFill>
              <a:latin typeface="Source Sans Pro"/>
              <a:ea typeface="Source Sans Pro"/>
              <a:cs typeface="Source Sans Pro"/>
              <a:sym typeface="Source Sans Pro"/>
            </a:endParaRPr>
          </a:p>
          <a:p>
            <a:pPr indent="-304800" lvl="0" marL="914400" rtl="0" algn="just">
              <a:spcBef>
                <a:spcPts val="200"/>
              </a:spcBef>
              <a:spcAft>
                <a:spcPts val="200"/>
              </a:spcAft>
              <a:buClr>
                <a:schemeClr val="dk1"/>
              </a:buClr>
              <a:buSzPts val="1200"/>
              <a:buFont typeface="Source Sans Pro"/>
              <a:buChar char="●"/>
            </a:pPr>
            <a:r>
              <a:rPr lang="es" sz="1200">
                <a:solidFill>
                  <a:schemeClr val="dk1"/>
                </a:solidFill>
                <a:latin typeface="Source Sans Pro"/>
                <a:ea typeface="Source Sans Pro"/>
                <a:cs typeface="Source Sans Pro"/>
                <a:sym typeface="Source Sans Pro"/>
              </a:rPr>
              <a:t>Politicians and regulators: to create coherent policies on digital skills.</a:t>
            </a:r>
            <a:br>
              <a:rPr lang="es" sz="1200">
                <a:solidFill>
                  <a:schemeClr val="dk1"/>
                </a:solidFill>
                <a:latin typeface="Source Sans Pro"/>
                <a:ea typeface="Source Sans Pro"/>
                <a:cs typeface="Source Sans Pro"/>
                <a:sym typeface="Source Sans Pro"/>
              </a:rPr>
            </a:br>
            <a:endParaRPr/>
          </a:p>
        </p:txBody>
      </p:sp>
      <p:sp>
        <p:nvSpPr>
          <p:cNvPr id="115" name="Google Shape;115;p20"/>
          <p:cNvSpPr txBox="1"/>
          <p:nvPr/>
        </p:nvSpPr>
        <p:spPr>
          <a:xfrm>
            <a:off x="298175" y="612050"/>
            <a:ext cx="8568600" cy="492600"/>
          </a:xfrm>
          <a:prstGeom prst="rect">
            <a:avLst/>
          </a:prstGeom>
          <a:noFill/>
          <a:ln>
            <a:noFill/>
          </a:ln>
        </p:spPr>
        <p:txBody>
          <a:bodyPr anchorCtr="0" anchor="t" bIns="91425" lIns="91425" spcFirstLastPara="1" rIns="91425" wrap="square" tIns="91425">
            <a:spAutoFit/>
          </a:bodyPr>
          <a:lstStyle/>
          <a:p>
            <a:pPr indent="0" lvl="0" marL="914400" rtl="0" algn="just">
              <a:spcBef>
                <a:spcPts val="600"/>
              </a:spcBef>
              <a:spcAft>
                <a:spcPts val="600"/>
              </a:spcAft>
              <a:buNone/>
            </a:pPr>
            <a:r>
              <a:rPr b="1" lang="es" sz="2000">
                <a:solidFill>
                  <a:schemeClr val="dk1"/>
                </a:solidFill>
                <a:latin typeface="Source Sans Pro"/>
                <a:ea typeface="Source Sans Pro"/>
                <a:cs typeface="Source Sans Pro"/>
                <a:sym typeface="Source Sans Pro"/>
              </a:rPr>
              <a:t>2.2 European Cybersecurity Competence Framework (ECSF)</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121" name="Google Shape;121;p21"/>
          <p:cNvSpPr txBox="1"/>
          <p:nvPr/>
        </p:nvSpPr>
        <p:spPr>
          <a:xfrm>
            <a:off x="153000" y="960875"/>
            <a:ext cx="8431200" cy="8472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1800"/>
              </a:spcBef>
              <a:spcAft>
                <a:spcPts val="0"/>
              </a:spcAft>
              <a:buNone/>
            </a:pPr>
            <a:r>
              <a:rPr b="1" i="1" lang="es" sz="1500">
                <a:solidFill>
                  <a:srgbClr val="666666"/>
                </a:solidFill>
                <a:latin typeface="Georgia"/>
                <a:ea typeface="Georgia"/>
                <a:cs typeface="Georgia"/>
                <a:sym typeface="Georgia"/>
              </a:rPr>
              <a:t>Contents of the ECSF</a:t>
            </a:r>
            <a:endParaRPr b="1" i="1" sz="1500">
              <a:solidFill>
                <a:srgbClr val="666666"/>
              </a:solidFill>
              <a:latin typeface="Georgia"/>
              <a:ea typeface="Georgia"/>
              <a:cs typeface="Georgia"/>
              <a:sym typeface="Georgia"/>
            </a:endParaRPr>
          </a:p>
          <a:p>
            <a:pPr indent="457200" lvl="0" marL="0" rtl="0" algn="just">
              <a:lnSpc>
                <a:spcPct val="115000"/>
              </a:lnSpc>
              <a:spcBef>
                <a:spcPts val="0"/>
              </a:spcBef>
              <a:spcAft>
                <a:spcPts val="0"/>
              </a:spcAft>
              <a:buNone/>
            </a:pPr>
            <a:r>
              <a:rPr lang="es" sz="1200">
                <a:solidFill>
                  <a:srgbClr val="222222"/>
                </a:solidFill>
                <a:highlight>
                  <a:srgbClr val="FFFFFF"/>
                </a:highlight>
                <a:latin typeface="Source Sans Pro"/>
                <a:ea typeface="Source Sans Pro"/>
                <a:cs typeface="Source Sans Pro"/>
                <a:sym typeface="Source Sans Pro"/>
              </a:rPr>
              <a:t>The ECSF identifies 12 key professional roles in cybersecurity. Each comes with a detailed description of the duties, required skills, knowledge, and associated tools.</a:t>
            </a:r>
            <a:endParaRPr sz="1200">
              <a:solidFill>
                <a:schemeClr val="dk1"/>
              </a:solidFill>
              <a:latin typeface="Source Sans Pro"/>
              <a:ea typeface="Source Sans Pro"/>
              <a:cs typeface="Source Sans Pro"/>
              <a:sym typeface="Source Sans Pro"/>
            </a:endParaRPr>
          </a:p>
        </p:txBody>
      </p:sp>
      <p:sp>
        <p:nvSpPr>
          <p:cNvPr id="122" name="Google Shape;122;p21"/>
          <p:cNvSpPr txBox="1"/>
          <p:nvPr/>
        </p:nvSpPr>
        <p:spPr>
          <a:xfrm>
            <a:off x="4795625" y="1996225"/>
            <a:ext cx="3000000" cy="2493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s" sz="1200">
                <a:solidFill>
                  <a:schemeClr val="dk1"/>
                </a:solidFill>
                <a:latin typeface="Source Sans Pro"/>
                <a:ea typeface="Source Sans Pro"/>
                <a:cs typeface="Source Sans Pro"/>
                <a:sym typeface="Source Sans Pro"/>
              </a:rPr>
              <a:t>7 .</a:t>
            </a:r>
            <a:r>
              <a:rPr b="1" lang="es" sz="1200">
                <a:solidFill>
                  <a:schemeClr val="dk1"/>
                </a:solidFill>
                <a:latin typeface="Source Sans Pro"/>
                <a:ea typeface="Source Sans Pro"/>
                <a:cs typeface="Source Sans Pro"/>
                <a:sym typeface="Source Sans Pro"/>
              </a:rPr>
              <a:t>   </a:t>
            </a:r>
            <a:r>
              <a:rPr b="1" lang="es" sz="1200">
                <a:solidFill>
                  <a:schemeClr val="dk1"/>
                </a:solidFill>
                <a:latin typeface="Source Sans Pro"/>
                <a:ea typeface="Source Sans Pro"/>
                <a:cs typeface="Source Sans Pro"/>
                <a:sym typeface="Source Sans Pro"/>
              </a:rPr>
              <a:t>Cybersecurity Educator </a:t>
            </a:r>
            <a:endParaRPr b="1" sz="1200">
              <a:solidFill>
                <a:schemeClr val="dk1"/>
              </a:solidFill>
              <a:latin typeface="Source Sans Pro"/>
              <a:ea typeface="Source Sans Pro"/>
              <a:cs typeface="Source Sans Pro"/>
              <a:sym typeface="Source Sans Pro"/>
            </a:endParaRPr>
          </a:p>
          <a:p>
            <a:pPr indent="0" lvl="0" marL="0" rtl="0" algn="just">
              <a:lnSpc>
                <a:spcPct val="115000"/>
              </a:lnSpc>
              <a:spcBef>
                <a:spcPts val="0"/>
              </a:spcBef>
              <a:spcAft>
                <a:spcPts val="0"/>
              </a:spcAft>
              <a:buNone/>
            </a:pPr>
            <a:r>
              <a:rPr lang="es" sz="1200" u="sng">
                <a:solidFill>
                  <a:srgbClr val="1155CC"/>
                </a:solidFill>
                <a:latin typeface="Source Sans Pro"/>
                <a:ea typeface="Source Sans Pro"/>
                <a:cs typeface="Source Sans Pro"/>
                <a:sym typeface="Source Sans Pro"/>
                <a:hlinkClick r:id="rId3">
                  <a:extLst>
                    <a:ext uri="{A12FA001-AC4F-418D-AE19-62706E023703}">
                      <ahyp:hlinkClr val="tx"/>
                    </a:ext>
                  </a:extLst>
                </a:hlinkClick>
              </a:rPr>
              <a:t> </a:t>
            </a:r>
            <a:endParaRPr sz="1200">
              <a:solidFill>
                <a:schemeClr val="dk1"/>
              </a:solidFill>
              <a:latin typeface="Source Sans Pro"/>
              <a:ea typeface="Source Sans Pro"/>
              <a:cs typeface="Source Sans Pro"/>
              <a:sym typeface="Source Sans Pro"/>
            </a:endParaRPr>
          </a:p>
          <a:p>
            <a:pPr indent="0" lvl="0" marL="0" rtl="0" algn="just">
              <a:lnSpc>
                <a:spcPct val="115000"/>
              </a:lnSpc>
              <a:spcBef>
                <a:spcPts val="0"/>
              </a:spcBef>
              <a:spcAft>
                <a:spcPts val="0"/>
              </a:spcAft>
              <a:buNone/>
            </a:pPr>
            <a:r>
              <a:rPr lang="es" sz="1200">
                <a:solidFill>
                  <a:schemeClr val="dk1"/>
                </a:solidFill>
                <a:latin typeface="Source Sans Pro"/>
                <a:ea typeface="Source Sans Pro"/>
                <a:cs typeface="Source Sans Pro"/>
                <a:sym typeface="Source Sans Pro"/>
              </a:rPr>
              <a:t>8.</a:t>
            </a:r>
            <a:r>
              <a:rPr b="1" lang="es" sz="1200">
                <a:solidFill>
                  <a:schemeClr val="dk1"/>
                </a:solidFill>
                <a:latin typeface="Source Sans Pro"/>
                <a:ea typeface="Source Sans Pro"/>
                <a:cs typeface="Source Sans Pro"/>
                <a:sym typeface="Source Sans Pro"/>
              </a:rPr>
              <a:t>   </a:t>
            </a:r>
            <a:r>
              <a:rPr b="1" lang="es" sz="1200">
                <a:solidFill>
                  <a:schemeClr val="dk1"/>
                </a:solidFill>
                <a:latin typeface="Source Sans Pro"/>
                <a:ea typeface="Source Sans Pro"/>
                <a:cs typeface="Source Sans Pro"/>
                <a:sym typeface="Source Sans Pro"/>
              </a:rPr>
              <a:t>Cybersecurity Implementer </a:t>
            </a:r>
            <a:br>
              <a:rPr lang="es" sz="1200">
                <a:solidFill>
                  <a:schemeClr val="dk1"/>
                </a:solidFill>
                <a:latin typeface="Source Sans Pro"/>
                <a:ea typeface="Source Sans Pro"/>
                <a:cs typeface="Source Sans Pro"/>
                <a:sym typeface="Source Sans Pro"/>
              </a:rPr>
            </a:br>
            <a:endParaRPr sz="1200">
              <a:solidFill>
                <a:schemeClr val="dk1"/>
              </a:solidFill>
              <a:latin typeface="Source Sans Pro"/>
              <a:ea typeface="Source Sans Pro"/>
              <a:cs typeface="Source Sans Pro"/>
              <a:sym typeface="Source Sans Pro"/>
            </a:endParaRPr>
          </a:p>
          <a:p>
            <a:pPr indent="0" lvl="0" marL="0" rtl="0" algn="just">
              <a:lnSpc>
                <a:spcPct val="115000"/>
              </a:lnSpc>
              <a:spcBef>
                <a:spcPts val="0"/>
              </a:spcBef>
              <a:spcAft>
                <a:spcPts val="0"/>
              </a:spcAft>
              <a:buNone/>
            </a:pPr>
            <a:r>
              <a:rPr lang="es" sz="1200">
                <a:solidFill>
                  <a:schemeClr val="dk1"/>
                </a:solidFill>
                <a:latin typeface="Source Sans Pro"/>
                <a:ea typeface="Source Sans Pro"/>
                <a:cs typeface="Source Sans Pro"/>
                <a:sym typeface="Source Sans Pro"/>
              </a:rPr>
              <a:t>9.</a:t>
            </a:r>
            <a:r>
              <a:rPr b="1" lang="es" sz="1200">
                <a:solidFill>
                  <a:schemeClr val="dk1"/>
                </a:solidFill>
                <a:latin typeface="Source Sans Pro"/>
                <a:ea typeface="Source Sans Pro"/>
                <a:cs typeface="Source Sans Pro"/>
                <a:sym typeface="Source Sans Pro"/>
              </a:rPr>
              <a:t>  </a:t>
            </a:r>
            <a:r>
              <a:rPr b="1" lang="es" sz="1200">
                <a:solidFill>
                  <a:schemeClr val="dk1"/>
                </a:solidFill>
                <a:latin typeface="Source Sans Pro"/>
                <a:ea typeface="Source Sans Pro"/>
                <a:cs typeface="Source Sans Pro"/>
                <a:sym typeface="Source Sans Pro"/>
              </a:rPr>
              <a:t>Cybersecurity Researcher </a:t>
            </a:r>
            <a:br>
              <a:rPr lang="es" sz="1200">
                <a:solidFill>
                  <a:schemeClr val="dk1"/>
                </a:solidFill>
                <a:latin typeface="Source Sans Pro"/>
                <a:ea typeface="Source Sans Pro"/>
                <a:cs typeface="Source Sans Pro"/>
                <a:sym typeface="Source Sans Pro"/>
              </a:rPr>
            </a:br>
            <a:r>
              <a:rPr lang="es" sz="1200">
                <a:solidFill>
                  <a:schemeClr val="dk1"/>
                </a:solidFill>
                <a:latin typeface="Source Sans Pro"/>
                <a:ea typeface="Source Sans Pro"/>
                <a:cs typeface="Source Sans Pro"/>
                <a:sym typeface="Source Sans Pro"/>
              </a:rPr>
              <a:t>.</a:t>
            </a:r>
            <a:r>
              <a:rPr lang="es" sz="1200" u="sng">
                <a:solidFill>
                  <a:srgbClr val="1155CC"/>
                </a:solidFill>
                <a:latin typeface="Source Sans Pro"/>
                <a:ea typeface="Source Sans Pro"/>
                <a:cs typeface="Source Sans Pro"/>
                <a:sym typeface="Source Sans Pro"/>
                <a:hlinkClick r:id="rId4">
                  <a:extLst>
                    <a:ext uri="{A12FA001-AC4F-418D-AE19-62706E023703}">
                      <ahyp:hlinkClr val="tx"/>
                    </a:ext>
                  </a:extLst>
                </a:hlinkClick>
              </a:rPr>
              <a:t> </a:t>
            </a:r>
            <a:endParaRPr sz="1200">
              <a:solidFill>
                <a:schemeClr val="dk1"/>
              </a:solidFill>
              <a:latin typeface="Source Sans Pro"/>
              <a:ea typeface="Source Sans Pro"/>
              <a:cs typeface="Source Sans Pro"/>
              <a:sym typeface="Source Sans Pro"/>
            </a:endParaRPr>
          </a:p>
          <a:p>
            <a:pPr indent="0" lvl="0" marL="0" rtl="0" algn="just">
              <a:lnSpc>
                <a:spcPct val="115000"/>
              </a:lnSpc>
              <a:spcBef>
                <a:spcPts val="0"/>
              </a:spcBef>
              <a:spcAft>
                <a:spcPts val="0"/>
              </a:spcAft>
              <a:buNone/>
            </a:pPr>
            <a:r>
              <a:rPr lang="es" sz="1200">
                <a:solidFill>
                  <a:schemeClr val="dk1"/>
                </a:solidFill>
                <a:latin typeface="Source Sans Pro"/>
                <a:ea typeface="Source Sans Pro"/>
                <a:cs typeface="Source Sans Pro"/>
                <a:sym typeface="Source Sans Pro"/>
              </a:rPr>
              <a:t>10. </a:t>
            </a:r>
            <a:r>
              <a:rPr b="1" lang="es" sz="1200">
                <a:solidFill>
                  <a:schemeClr val="dk1"/>
                </a:solidFill>
                <a:latin typeface="Source Sans Pro"/>
                <a:ea typeface="Source Sans Pro"/>
                <a:cs typeface="Source Sans Pro"/>
                <a:sym typeface="Source Sans Pro"/>
              </a:rPr>
              <a:t> </a:t>
            </a:r>
            <a:r>
              <a:rPr b="1" lang="es" sz="1200">
                <a:solidFill>
                  <a:schemeClr val="dk1"/>
                </a:solidFill>
                <a:latin typeface="Source Sans Pro"/>
                <a:ea typeface="Source Sans Pro"/>
                <a:cs typeface="Source Sans Pro"/>
                <a:sym typeface="Source Sans Pro"/>
              </a:rPr>
              <a:t>Cybersecurity Risk Manager </a:t>
            </a:r>
            <a:br>
              <a:rPr lang="es" sz="1200">
                <a:solidFill>
                  <a:schemeClr val="dk1"/>
                </a:solidFill>
                <a:latin typeface="Source Sans Pro"/>
                <a:ea typeface="Source Sans Pro"/>
                <a:cs typeface="Source Sans Pro"/>
                <a:sym typeface="Source Sans Pro"/>
              </a:rPr>
            </a:br>
            <a:r>
              <a:rPr lang="es" sz="1200" u="sng">
                <a:solidFill>
                  <a:srgbClr val="1155CC"/>
                </a:solidFill>
                <a:latin typeface="Source Sans Pro"/>
                <a:ea typeface="Source Sans Pro"/>
                <a:cs typeface="Source Sans Pro"/>
                <a:sym typeface="Source Sans Pro"/>
                <a:hlinkClick r:id="rId5">
                  <a:extLst>
                    <a:ext uri="{A12FA001-AC4F-418D-AE19-62706E023703}">
                      <ahyp:hlinkClr val="tx"/>
                    </a:ext>
                  </a:extLst>
                </a:hlinkClick>
              </a:rPr>
              <a:t> </a:t>
            </a:r>
            <a:endParaRPr sz="1200">
              <a:solidFill>
                <a:schemeClr val="dk1"/>
              </a:solidFill>
              <a:latin typeface="Source Sans Pro"/>
              <a:ea typeface="Source Sans Pro"/>
              <a:cs typeface="Source Sans Pro"/>
              <a:sym typeface="Source Sans Pro"/>
            </a:endParaRPr>
          </a:p>
          <a:p>
            <a:pPr indent="0" lvl="0" marL="0" rtl="0" algn="just">
              <a:lnSpc>
                <a:spcPct val="115000"/>
              </a:lnSpc>
              <a:spcBef>
                <a:spcPts val="0"/>
              </a:spcBef>
              <a:spcAft>
                <a:spcPts val="0"/>
              </a:spcAft>
              <a:buNone/>
            </a:pPr>
            <a:r>
              <a:rPr lang="es" sz="1200">
                <a:solidFill>
                  <a:schemeClr val="dk1"/>
                </a:solidFill>
                <a:latin typeface="Source Sans Pro"/>
                <a:ea typeface="Source Sans Pro"/>
                <a:cs typeface="Source Sans Pro"/>
                <a:sym typeface="Source Sans Pro"/>
              </a:rPr>
              <a:t>11.</a:t>
            </a:r>
            <a:r>
              <a:rPr b="1" lang="es" sz="1200">
                <a:solidFill>
                  <a:schemeClr val="dk1"/>
                </a:solidFill>
                <a:latin typeface="Source Sans Pro"/>
                <a:ea typeface="Source Sans Pro"/>
                <a:cs typeface="Source Sans Pro"/>
                <a:sym typeface="Source Sans Pro"/>
              </a:rPr>
              <a:t>  </a:t>
            </a:r>
            <a:r>
              <a:rPr b="1" lang="es" sz="1200">
                <a:solidFill>
                  <a:schemeClr val="dk1"/>
                </a:solidFill>
                <a:latin typeface="Source Sans Pro"/>
                <a:ea typeface="Source Sans Pro"/>
                <a:cs typeface="Source Sans Pro"/>
                <a:sym typeface="Source Sans Pro"/>
              </a:rPr>
              <a:t>Digital Forensics Investigator </a:t>
            </a:r>
            <a:br>
              <a:rPr lang="es" sz="1200">
                <a:solidFill>
                  <a:schemeClr val="dk1"/>
                </a:solidFill>
                <a:latin typeface="Source Sans Pro"/>
                <a:ea typeface="Source Sans Pro"/>
                <a:cs typeface="Source Sans Pro"/>
                <a:sym typeface="Source Sans Pro"/>
              </a:rPr>
            </a:br>
            <a:endParaRPr sz="1200">
              <a:solidFill>
                <a:schemeClr val="dk1"/>
              </a:solidFill>
              <a:latin typeface="Source Sans Pro"/>
              <a:ea typeface="Source Sans Pro"/>
              <a:cs typeface="Source Sans Pro"/>
              <a:sym typeface="Source Sans Pro"/>
            </a:endParaRPr>
          </a:p>
          <a:p>
            <a:pPr indent="0" lvl="0" marL="0" rtl="0" algn="just">
              <a:lnSpc>
                <a:spcPct val="115000"/>
              </a:lnSpc>
              <a:spcBef>
                <a:spcPts val="0"/>
              </a:spcBef>
              <a:spcAft>
                <a:spcPts val="1000"/>
              </a:spcAft>
              <a:buNone/>
            </a:pPr>
            <a:r>
              <a:rPr lang="es" sz="1200">
                <a:solidFill>
                  <a:schemeClr val="dk1"/>
                </a:solidFill>
                <a:latin typeface="Source Sans Pro"/>
                <a:ea typeface="Source Sans Pro"/>
                <a:cs typeface="Source Sans Pro"/>
                <a:sym typeface="Source Sans Pro"/>
              </a:rPr>
              <a:t>12. </a:t>
            </a:r>
            <a:r>
              <a:rPr b="1" lang="es" sz="1200">
                <a:solidFill>
                  <a:schemeClr val="dk1"/>
                </a:solidFill>
                <a:latin typeface="Source Sans Pro"/>
                <a:ea typeface="Source Sans Pro"/>
                <a:cs typeface="Source Sans Pro"/>
                <a:sym typeface="Source Sans Pro"/>
              </a:rPr>
              <a:t> </a:t>
            </a:r>
            <a:r>
              <a:rPr b="1" lang="es" sz="1200">
                <a:solidFill>
                  <a:schemeClr val="dk1"/>
                </a:solidFill>
                <a:latin typeface="Source Sans Pro"/>
                <a:ea typeface="Source Sans Pro"/>
                <a:cs typeface="Source Sans Pro"/>
                <a:sym typeface="Source Sans Pro"/>
              </a:rPr>
              <a:t>Penetration Tester </a:t>
            </a:r>
            <a:r>
              <a:rPr lang="es" sz="1200">
                <a:solidFill>
                  <a:schemeClr val="dk1"/>
                </a:solidFill>
                <a:latin typeface="Source Sans Pro"/>
                <a:ea typeface="Source Sans Pro"/>
                <a:cs typeface="Source Sans Pro"/>
                <a:sym typeface="Source Sans Pro"/>
              </a:rPr>
              <a:t>.</a:t>
            </a:r>
            <a:r>
              <a:rPr lang="es" sz="1200" u="sng">
                <a:solidFill>
                  <a:srgbClr val="1155CC"/>
                </a:solidFill>
                <a:latin typeface="Source Sans Pro"/>
                <a:ea typeface="Source Sans Pro"/>
                <a:cs typeface="Source Sans Pro"/>
                <a:sym typeface="Source Sans Pro"/>
                <a:hlinkClick r:id="rId6">
                  <a:extLst>
                    <a:ext uri="{A12FA001-AC4F-418D-AE19-62706E023703}">
                      <ahyp:hlinkClr val="tx"/>
                    </a:ext>
                  </a:extLst>
                </a:hlinkClick>
              </a:rPr>
              <a:t> </a:t>
            </a:r>
            <a:endParaRPr sz="1200">
              <a:solidFill>
                <a:schemeClr val="dk1"/>
              </a:solidFill>
              <a:latin typeface="Source Sans Pro"/>
              <a:ea typeface="Source Sans Pro"/>
              <a:cs typeface="Source Sans Pro"/>
              <a:sym typeface="Source Sans Pro"/>
            </a:endParaRPr>
          </a:p>
        </p:txBody>
      </p:sp>
      <p:sp>
        <p:nvSpPr>
          <p:cNvPr id="123" name="Google Shape;123;p21"/>
          <p:cNvSpPr txBox="1"/>
          <p:nvPr/>
        </p:nvSpPr>
        <p:spPr>
          <a:xfrm>
            <a:off x="647350" y="2000875"/>
            <a:ext cx="3805800" cy="2484300"/>
          </a:xfrm>
          <a:prstGeom prst="rect">
            <a:avLst/>
          </a:prstGeom>
          <a:noFill/>
          <a:ln>
            <a:noFill/>
          </a:ln>
        </p:spPr>
        <p:txBody>
          <a:bodyPr anchorCtr="0" anchor="t" bIns="91425" lIns="91425" spcFirstLastPara="1" rIns="91425" wrap="square" tIns="91425">
            <a:spAutoFit/>
          </a:bodyPr>
          <a:lstStyle/>
          <a:p>
            <a:pPr indent="-304800" lvl="0" marL="457200" rtl="0" algn="just">
              <a:lnSpc>
                <a:spcPct val="115000"/>
              </a:lnSpc>
              <a:spcBef>
                <a:spcPts val="0"/>
              </a:spcBef>
              <a:spcAft>
                <a:spcPts val="0"/>
              </a:spcAft>
              <a:buClr>
                <a:schemeClr val="dk1"/>
              </a:buClr>
              <a:buSzPts val="1200"/>
              <a:buFont typeface="Source Sans Pro"/>
              <a:buAutoNum type="arabicPeriod"/>
            </a:pPr>
            <a:r>
              <a:rPr b="1" lang="es" sz="1200">
                <a:solidFill>
                  <a:schemeClr val="dk1"/>
                </a:solidFill>
                <a:latin typeface="Source Sans Pro"/>
                <a:ea typeface="Source Sans Pro"/>
                <a:cs typeface="Source Sans Pro"/>
                <a:sym typeface="Source Sans Pro"/>
              </a:rPr>
              <a:t>Information Security Officer ( </a:t>
            </a:r>
            <a:r>
              <a:rPr lang="es" sz="1200">
                <a:solidFill>
                  <a:schemeClr val="dk1"/>
                </a:solidFill>
                <a:latin typeface="Source Sans Pro"/>
                <a:ea typeface="Source Sans Pro"/>
                <a:cs typeface="Source Sans Pro"/>
                <a:sym typeface="Source Sans Pro"/>
              </a:rPr>
              <a:t>CISO </a:t>
            </a:r>
            <a:r>
              <a:rPr b="1" lang="es" sz="1200">
                <a:solidFill>
                  <a:schemeClr val="dk1"/>
                </a:solidFill>
                <a:latin typeface="Source Sans Pro"/>
                <a:ea typeface="Source Sans Pro"/>
                <a:cs typeface="Source Sans Pro"/>
                <a:sym typeface="Source Sans Pro"/>
              </a:rPr>
              <a:t>)</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1000"/>
              </a:spcBef>
              <a:spcAft>
                <a:spcPts val="0"/>
              </a:spcAft>
              <a:buClr>
                <a:schemeClr val="dk1"/>
              </a:buClr>
              <a:buSzPts val="1200"/>
              <a:buFont typeface="Source Sans Pro"/>
              <a:buAutoNum type="arabicPeriod"/>
            </a:pPr>
            <a:r>
              <a:rPr b="1" lang="es" sz="1200">
                <a:solidFill>
                  <a:schemeClr val="dk1"/>
                </a:solidFill>
                <a:latin typeface="Source Sans Pro"/>
                <a:ea typeface="Source Sans Pro"/>
                <a:cs typeface="Source Sans Pro"/>
                <a:sym typeface="Source Sans Pro"/>
              </a:rPr>
              <a:t>Cyber Incident Response </a:t>
            </a:r>
            <a:r>
              <a:rPr lang="es" sz="1200" u="sng">
                <a:solidFill>
                  <a:srgbClr val="1155CC"/>
                </a:solidFill>
                <a:latin typeface="Source Sans Pro"/>
                <a:ea typeface="Source Sans Pro"/>
                <a:cs typeface="Source Sans Pro"/>
                <a:sym typeface="Source Sans Pro"/>
                <a:hlinkClick r:id="rId7">
                  <a:extLst>
                    <a:ext uri="{A12FA001-AC4F-418D-AE19-62706E023703}">
                      <ahyp:hlinkClr val="tx"/>
                    </a:ext>
                  </a:extLst>
                </a:hlinkClick>
              </a:rPr>
              <a:t> </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1000"/>
              </a:spcBef>
              <a:spcAft>
                <a:spcPts val="0"/>
              </a:spcAft>
              <a:buClr>
                <a:schemeClr val="dk1"/>
              </a:buClr>
              <a:buSzPts val="1200"/>
              <a:buFont typeface="Source Sans Pro"/>
              <a:buAutoNum type="arabicPeriod"/>
            </a:pPr>
            <a:r>
              <a:rPr b="1" lang="es" sz="1200">
                <a:solidFill>
                  <a:schemeClr val="dk1"/>
                </a:solidFill>
                <a:latin typeface="Source Sans Pro"/>
                <a:ea typeface="Source Sans Pro"/>
                <a:cs typeface="Source Sans Pro"/>
                <a:sym typeface="Source Sans Pro"/>
              </a:rPr>
              <a:t>Cyber Legal, Policy &amp; Compliance Officer </a:t>
            </a:r>
            <a:br>
              <a:rPr lang="es" sz="1200">
                <a:solidFill>
                  <a:schemeClr val="dk1"/>
                </a:solidFill>
                <a:latin typeface="Source Sans Pro"/>
                <a:ea typeface="Source Sans Pro"/>
                <a:cs typeface="Source Sans Pro"/>
                <a:sym typeface="Source Sans Pro"/>
              </a:rPr>
            </a:br>
            <a:r>
              <a:rPr lang="es" sz="1200" u="sng">
                <a:solidFill>
                  <a:srgbClr val="1155CC"/>
                </a:solidFill>
                <a:latin typeface="Source Sans Pro"/>
                <a:ea typeface="Source Sans Pro"/>
                <a:cs typeface="Source Sans Pro"/>
                <a:sym typeface="Source Sans Pro"/>
                <a:hlinkClick r:id="rId8">
                  <a:extLst>
                    <a:ext uri="{A12FA001-AC4F-418D-AE19-62706E023703}">
                      <ahyp:hlinkClr val="tx"/>
                    </a:ext>
                  </a:extLst>
                </a:hlinkClick>
              </a:rPr>
              <a:t> </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rabicPeriod"/>
            </a:pPr>
            <a:r>
              <a:rPr b="1" lang="es" sz="1200">
                <a:solidFill>
                  <a:schemeClr val="dk1"/>
                </a:solidFill>
                <a:latin typeface="Source Sans Pro"/>
                <a:ea typeface="Source Sans Pro"/>
                <a:cs typeface="Source Sans Pro"/>
                <a:sym typeface="Source Sans Pro"/>
              </a:rPr>
              <a:t>Cyber Threat Intelligence Specialist</a:t>
            </a:r>
            <a:endParaRPr b="1"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1000"/>
              </a:spcBef>
              <a:spcAft>
                <a:spcPts val="0"/>
              </a:spcAft>
              <a:buClr>
                <a:schemeClr val="dk1"/>
              </a:buClr>
              <a:buSzPts val="1200"/>
              <a:buFont typeface="Source Sans Pro"/>
              <a:buAutoNum type="arabicPeriod"/>
            </a:pPr>
            <a:r>
              <a:rPr b="1" lang="es" sz="1200">
                <a:solidFill>
                  <a:schemeClr val="dk1"/>
                </a:solidFill>
                <a:latin typeface="Source Sans Pro"/>
                <a:ea typeface="Source Sans Pro"/>
                <a:cs typeface="Source Sans Pro"/>
                <a:sym typeface="Source Sans Pro"/>
              </a:rPr>
              <a:t>Cybersecurity Architect </a:t>
            </a:r>
            <a:br>
              <a:rPr lang="es" sz="1200">
                <a:solidFill>
                  <a:schemeClr val="dk1"/>
                </a:solidFill>
                <a:latin typeface="Source Sans Pro"/>
                <a:ea typeface="Source Sans Pro"/>
                <a:cs typeface="Source Sans Pro"/>
                <a:sym typeface="Source Sans Pro"/>
              </a:rPr>
            </a:br>
            <a:r>
              <a:rPr lang="es" sz="1200" u="sng">
                <a:solidFill>
                  <a:srgbClr val="1155CC"/>
                </a:solidFill>
                <a:latin typeface="Source Sans Pro"/>
                <a:ea typeface="Source Sans Pro"/>
                <a:cs typeface="Source Sans Pro"/>
                <a:sym typeface="Source Sans Pro"/>
                <a:hlinkClick r:id="rId9">
                  <a:extLst>
                    <a:ext uri="{A12FA001-AC4F-418D-AE19-62706E023703}">
                      <ahyp:hlinkClr val="tx"/>
                    </a:ext>
                  </a:extLst>
                </a:hlinkClick>
              </a:rPr>
              <a:t> </a:t>
            </a:r>
            <a:endParaRPr sz="1200">
              <a:solidFill>
                <a:schemeClr val="dk1"/>
              </a:solidFill>
              <a:latin typeface="Source Sans Pro"/>
              <a:ea typeface="Source Sans Pro"/>
              <a:cs typeface="Source Sans Pro"/>
              <a:sym typeface="Source Sans Pro"/>
            </a:endParaRPr>
          </a:p>
          <a:p>
            <a:pPr indent="-304800" lvl="0" marL="457200" rtl="0" algn="just">
              <a:lnSpc>
                <a:spcPct val="115000"/>
              </a:lnSpc>
              <a:spcBef>
                <a:spcPts val="0"/>
              </a:spcBef>
              <a:spcAft>
                <a:spcPts val="0"/>
              </a:spcAft>
              <a:buClr>
                <a:schemeClr val="dk1"/>
              </a:buClr>
              <a:buSzPts val="1200"/>
              <a:buFont typeface="Source Sans Pro"/>
              <a:buAutoNum type="arabicPeriod"/>
            </a:pPr>
            <a:r>
              <a:rPr b="1" lang="es" sz="1200">
                <a:solidFill>
                  <a:schemeClr val="dk1"/>
                </a:solidFill>
                <a:latin typeface="Source Sans Pro"/>
                <a:ea typeface="Source Sans Pro"/>
                <a:cs typeface="Source Sans Pro"/>
                <a:sym typeface="Source Sans Pro"/>
              </a:rPr>
              <a:t>Cybersecurity Auditor </a:t>
            </a:r>
            <a:br>
              <a:rPr lang="es" sz="1200">
                <a:solidFill>
                  <a:schemeClr val="dk1"/>
                </a:solidFill>
                <a:latin typeface="Source Sans Pro"/>
                <a:ea typeface="Source Sans Pro"/>
                <a:cs typeface="Source Sans Pro"/>
                <a:sym typeface="Source Sans Pro"/>
              </a:rPr>
            </a:br>
            <a:endParaRPr/>
          </a:p>
        </p:txBody>
      </p:sp>
      <p:sp>
        <p:nvSpPr>
          <p:cNvPr id="124" name="Google Shape;124;p21"/>
          <p:cNvSpPr txBox="1"/>
          <p:nvPr/>
        </p:nvSpPr>
        <p:spPr>
          <a:xfrm>
            <a:off x="298175" y="612050"/>
            <a:ext cx="8568600" cy="492600"/>
          </a:xfrm>
          <a:prstGeom prst="rect">
            <a:avLst/>
          </a:prstGeom>
          <a:noFill/>
          <a:ln>
            <a:noFill/>
          </a:ln>
        </p:spPr>
        <p:txBody>
          <a:bodyPr anchorCtr="0" anchor="t" bIns="91425" lIns="91425" spcFirstLastPara="1" rIns="91425" wrap="square" tIns="91425">
            <a:spAutoFit/>
          </a:bodyPr>
          <a:lstStyle/>
          <a:p>
            <a:pPr indent="0" lvl="0" marL="914400" rtl="0" algn="just">
              <a:spcBef>
                <a:spcPts val="600"/>
              </a:spcBef>
              <a:spcAft>
                <a:spcPts val="600"/>
              </a:spcAft>
              <a:buNone/>
            </a:pPr>
            <a:r>
              <a:rPr b="1" lang="es" sz="2000">
                <a:solidFill>
                  <a:schemeClr val="dk1"/>
                </a:solidFill>
                <a:latin typeface="Source Sans Pro"/>
                <a:ea typeface="Source Sans Pro"/>
                <a:cs typeface="Source Sans Pro"/>
                <a:sym typeface="Source Sans Pro"/>
              </a:rPr>
              <a:t>2.2 European Cybersecurity Competence Framework (ECSF)</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130" name="Google Shape;130;p22"/>
          <p:cNvSpPr txBox="1"/>
          <p:nvPr/>
        </p:nvSpPr>
        <p:spPr>
          <a:xfrm>
            <a:off x="162150" y="588500"/>
            <a:ext cx="8819700" cy="9852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3. </a:t>
            </a:r>
            <a:r>
              <a:rPr b="1" lang="es" sz="2600" cap="small">
                <a:solidFill>
                  <a:schemeClr val="dk1"/>
                </a:solidFill>
                <a:latin typeface="Source Sans Pro"/>
                <a:ea typeface="Source Sans Pro"/>
                <a:cs typeface="Source Sans Pro"/>
                <a:sym typeface="Source Sans Pro"/>
              </a:rPr>
              <a:t>Presentation of the Specialization Course in Cybersecurity in Information Technology Environments</a:t>
            </a:r>
            <a:endParaRPr b="1" sz="2600" cap="small">
              <a:solidFill>
                <a:srgbClr val="CFDA2D"/>
              </a:solidFill>
              <a:latin typeface="Source Sans Pro"/>
              <a:ea typeface="Source Sans Pro"/>
              <a:cs typeface="Source Sans Pro"/>
              <a:sym typeface="Source Sans Pro"/>
            </a:endParaRPr>
          </a:p>
        </p:txBody>
      </p:sp>
      <p:sp>
        <p:nvSpPr>
          <p:cNvPr id="131" name="Google Shape;131;p22"/>
          <p:cNvSpPr txBox="1"/>
          <p:nvPr/>
        </p:nvSpPr>
        <p:spPr>
          <a:xfrm>
            <a:off x="162150" y="1809075"/>
            <a:ext cx="8584200" cy="24936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Royal Decree 479/2020</a:t>
            </a:r>
            <a:r>
              <a:rPr lang="es" sz="1200">
                <a:solidFill>
                  <a:schemeClr val="dk1"/>
                </a:solidFill>
                <a:latin typeface="Source Sans Pro"/>
                <a:ea typeface="Source Sans Pro"/>
                <a:cs typeface="Source Sans Pro"/>
                <a:sym typeface="Source Sans Pro"/>
              </a:rPr>
              <a:t>, of April 7, establishing the Specialization Course in Cybersecurity in Information Technology Environments and setting out the basic aspects of the curriculum.</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DECREE BOPV 83/2023</a:t>
            </a:r>
            <a:r>
              <a:rPr lang="es" sz="1200">
                <a:solidFill>
                  <a:schemeClr val="dk1"/>
                </a:solidFill>
                <a:latin typeface="Source Sans Pro"/>
                <a:ea typeface="Source Sans Pro"/>
                <a:cs typeface="Source Sans Pro"/>
                <a:sym typeface="Source Sans Pro"/>
              </a:rPr>
              <a:t>, of June 6, establishing the curricula corresponding to the specialization course in Cybersecurity in Information Technology environments,</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Name </a:t>
            </a:r>
            <a:r>
              <a:rPr lang="es" sz="1200">
                <a:solidFill>
                  <a:schemeClr val="dk1"/>
                </a:solidFill>
                <a:latin typeface="Source Sans Pro"/>
                <a:ea typeface="Source Sans Pro"/>
                <a:cs typeface="Source Sans Pro"/>
                <a:sym typeface="Source Sans Pro"/>
              </a:rPr>
              <a:t>: Cybersecurity in Information Technology Environments.</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Level </a:t>
            </a:r>
            <a:r>
              <a:rPr lang="es" sz="1200">
                <a:solidFill>
                  <a:schemeClr val="dk1"/>
                </a:solidFill>
                <a:latin typeface="Source Sans Pro"/>
                <a:ea typeface="Source Sans Pro"/>
                <a:cs typeface="Source Sans Pro"/>
                <a:sym typeface="Source Sans Pro"/>
              </a:rPr>
              <a:t>: Higher Vocational Training.</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Duration </a:t>
            </a:r>
            <a:r>
              <a:rPr lang="es" sz="1200">
                <a:solidFill>
                  <a:schemeClr val="dk1"/>
                </a:solidFill>
                <a:latin typeface="Source Sans Pro"/>
                <a:ea typeface="Source Sans Pro"/>
                <a:cs typeface="Source Sans Pro"/>
                <a:sym typeface="Source Sans Pro"/>
              </a:rPr>
              <a:t>: 900 hours</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Professional Family </a:t>
            </a:r>
            <a:r>
              <a:rPr lang="es" sz="1200">
                <a:solidFill>
                  <a:schemeClr val="dk1"/>
                </a:solidFill>
                <a:latin typeface="Source Sans Pro"/>
                <a:ea typeface="Source Sans Pro"/>
                <a:cs typeface="Source Sans Pro"/>
                <a:sym typeface="Source Sans Pro"/>
              </a:rPr>
              <a:t>: Information Technology and Communications (solely for the purposes of classifying Vocational Training courses).</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Branch of knowledge </a:t>
            </a:r>
            <a:r>
              <a:rPr lang="es" sz="1200">
                <a:solidFill>
                  <a:schemeClr val="dk1"/>
                </a:solidFill>
                <a:latin typeface="Source Sans Pro"/>
                <a:ea typeface="Source Sans Pro"/>
                <a:cs typeface="Source Sans Pro"/>
                <a:sym typeface="Source Sans Pro"/>
              </a:rPr>
              <a:t>: Engineering and Architecture.</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ECTS credits </a:t>
            </a:r>
            <a:r>
              <a:rPr lang="es" sz="1200">
                <a:solidFill>
                  <a:schemeClr val="dk1"/>
                </a:solidFill>
                <a:latin typeface="Source Sans Pro"/>
                <a:ea typeface="Source Sans Pro"/>
                <a:cs typeface="Source Sans Pro"/>
                <a:sym typeface="Source Sans Pro"/>
              </a:rPr>
              <a:t>: 43.</a:t>
            </a:r>
            <a:endParaRPr sz="1200">
              <a:solidFill>
                <a:schemeClr val="dk1"/>
              </a:solidFill>
              <a:latin typeface="Source Sans Pro"/>
              <a:ea typeface="Source Sans Pro"/>
              <a:cs typeface="Source Sans Pro"/>
              <a:sym typeface="Source Sans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137" name="Google Shape;137;p23"/>
          <p:cNvSpPr txBox="1"/>
          <p:nvPr/>
        </p:nvSpPr>
        <p:spPr>
          <a:xfrm>
            <a:off x="3260300" y="481975"/>
            <a:ext cx="3000000" cy="415500"/>
          </a:xfrm>
          <a:prstGeom prst="rect">
            <a:avLst/>
          </a:prstGeom>
          <a:noFill/>
          <a:ln>
            <a:noFill/>
          </a:ln>
        </p:spPr>
        <p:txBody>
          <a:bodyPr anchorCtr="0" anchor="t" bIns="91425" lIns="91425" spcFirstLastPara="1" rIns="91425" wrap="square" tIns="91425">
            <a:spAutoFit/>
          </a:bodyPr>
          <a:lstStyle/>
          <a:p>
            <a:pPr indent="0" lvl="0" marL="277990" rtl="0" algn="l">
              <a:spcBef>
                <a:spcPts val="1128"/>
              </a:spcBef>
              <a:spcAft>
                <a:spcPts val="0"/>
              </a:spcAft>
              <a:buNone/>
            </a:pPr>
            <a:r>
              <a:rPr i="1" lang="es" sz="1500">
                <a:solidFill>
                  <a:srgbClr val="666666"/>
                </a:solidFill>
                <a:latin typeface="Georgia"/>
                <a:ea typeface="Georgia"/>
                <a:cs typeface="Georgia"/>
                <a:sym typeface="Georgia"/>
              </a:rPr>
              <a:t>Professional modules.</a:t>
            </a:r>
            <a:endParaRPr/>
          </a:p>
        </p:txBody>
      </p:sp>
      <p:pic>
        <p:nvPicPr>
          <p:cNvPr id="138" name="Google Shape;138;p23"/>
          <p:cNvPicPr preferRelativeResize="0"/>
          <p:nvPr/>
        </p:nvPicPr>
        <p:blipFill>
          <a:blip r:embed="rId3">
            <a:alphaModFix/>
          </a:blip>
          <a:stretch>
            <a:fillRect/>
          </a:stretch>
        </p:blipFill>
        <p:spPr>
          <a:xfrm>
            <a:off x="1378875" y="791550"/>
            <a:ext cx="4827850" cy="2940850"/>
          </a:xfrm>
          <a:prstGeom prst="rect">
            <a:avLst/>
          </a:prstGeom>
          <a:noFill/>
          <a:ln>
            <a:noFill/>
          </a:ln>
        </p:spPr>
      </p:pic>
      <p:sp>
        <p:nvSpPr>
          <p:cNvPr id="139" name="Google Shape;139;p23"/>
          <p:cNvSpPr txBox="1"/>
          <p:nvPr/>
        </p:nvSpPr>
        <p:spPr>
          <a:xfrm>
            <a:off x="79850" y="3714375"/>
            <a:ext cx="8843100" cy="1237500"/>
          </a:xfrm>
          <a:prstGeom prst="rect">
            <a:avLst/>
          </a:prstGeom>
          <a:noFill/>
          <a:ln>
            <a:noFill/>
          </a:ln>
        </p:spPr>
        <p:txBody>
          <a:bodyPr anchorCtr="0" anchor="t" bIns="91425" lIns="91425" spcFirstLastPara="1" rIns="91425" wrap="square" tIns="91425">
            <a:spAutoFit/>
          </a:bodyPr>
          <a:lstStyle/>
          <a:p>
            <a:pPr indent="0" lvl="0" marL="282046" rtl="0" algn="l">
              <a:spcBef>
                <a:spcPts val="1081"/>
              </a:spcBef>
              <a:spcAft>
                <a:spcPts val="0"/>
              </a:spcAft>
              <a:buNone/>
            </a:pPr>
            <a:r>
              <a:rPr i="1" lang="es" sz="1500">
                <a:solidFill>
                  <a:srgbClr val="666666"/>
                </a:solidFill>
                <a:latin typeface="Georgia"/>
                <a:ea typeface="Georgia"/>
                <a:cs typeface="Georgia"/>
                <a:sym typeface="Georgia"/>
              </a:rPr>
              <a:t>General competence:</a:t>
            </a:r>
            <a:endParaRPr b="1" sz="1200">
              <a:solidFill>
                <a:schemeClr val="dk1"/>
              </a:solidFill>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lang="es" sz="1200">
                <a:solidFill>
                  <a:schemeClr val="dk1"/>
                </a:solidFill>
                <a:latin typeface="Source Sans Pro"/>
                <a:ea typeface="Source Sans Pro"/>
                <a:cs typeface="Source Sans Pro"/>
                <a:sym typeface="Source Sans Pro"/>
              </a:rPr>
              <a:t>The general competency of this specialization course consists of defining and implementing security strategies in information systems by conducting cybersecurity diagnostics, identifying vulnerabilities, and implementing the necessary measures to mitigate them by applying current regulations and industry standards, following quality, occupational risk prevention, and environmental protection protocols.</a:t>
            </a:r>
            <a:endParaRPr sz="1200">
              <a:solidFill>
                <a:schemeClr val="dk1"/>
              </a:solidFill>
              <a:latin typeface="Source Sans Pro"/>
              <a:ea typeface="Source Sans Pro"/>
              <a:cs typeface="Source Sans Pro"/>
              <a:sym typeface="Source Sans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145" name="Google Shape;145;p24"/>
          <p:cNvSpPr txBox="1"/>
          <p:nvPr/>
        </p:nvSpPr>
        <p:spPr>
          <a:xfrm>
            <a:off x="277200" y="659125"/>
            <a:ext cx="8866800" cy="9852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4. </a:t>
            </a:r>
            <a:r>
              <a:rPr b="1" lang="es" sz="2600" cap="small">
                <a:solidFill>
                  <a:schemeClr val="dk1"/>
                </a:solidFill>
                <a:latin typeface="Source Sans Pro"/>
                <a:ea typeface="Source Sans Pro"/>
                <a:cs typeface="Source Sans Pro"/>
                <a:sym typeface="Source Sans Pro"/>
              </a:rPr>
              <a:t>Presentation of the Specialization Course in Cybersecurity in Operational Technology Environments</a:t>
            </a:r>
            <a:endParaRPr b="1" sz="2600" cap="small">
              <a:solidFill>
                <a:srgbClr val="CFDA2D"/>
              </a:solidFill>
              <a:latin typeface="Source Sans Pro"/>
              <a:ea typeface="Source Sans Pro"/>
              <a:cs typeface="Source Sans Pro"/>
              <a:sym typeface="Source Sans Pro"/>
            </a:endParaRPr>
          </a:p>
        </p:txBody>
      </p:sp>
      <p:sp>
        <p:nvSpPr>
          <p:cNvPr id="146" name="Google Shape;146;p24"/>
          <p:cNvSpPr txBox="1"/>
          <p:nvPr/>
        </p:nvSpPr>
        <p:spPr>
          <a:xfrm>
            <a:off x="497250" y="1882600"/>
            <a:ext cx="8149500" cy="22650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Royal Decree 478/2020</a:t>
            </a:r>
            <a:r>
              <a:rPr lang="es" sz="1200">
                <a:solidFill>
                  <a:schemeClr val="dk1"/>
                </a:solidFill>
                <a:latin typeface="Source Sans Pro"/>
                <a:ea typeface="Source Sans Pro"/>
                <a:cs typeface="Source Sans Pro"/>
                <a:sym typeface="Source Sans Pro"/>
              </a:rPr>
              <a:t>, of April 7, establishing the Specialization Course in Cybersecurity in Operation Technology Environments</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BOVP DECREE 83/2023</a:t>
            </a:r>
            <a:r>
              <a:rPr lang="es" sz="1200">
                <a:solidFill>
                  <a:schemeClr val="dk1"/>
                </a:solidFill>
                <a:latin typeface="Source Sans Pro"/>
                <a:ea typeface="Source Sans Pro"/>
                <a:cs typeface="Source Sans Pro"/>
                <a:sym typeface="Source Sans Pro"/>
              </a:rPr>
              <a:t>, of June 6, establishing the curricula for the specialization course in Cybersecurity in Operational Technology Environments</a:t>
            </a:r>
            <a:endParaRPr sz="1200">
              <a:solidFill>
                <a:schemeClr val="dk1"/>
              </a:solidFill>
              <a:latin typeface="Source Sans Pro"/>
              <a:ea typeface="Source Sans Pro"/>
              <a:cs typeface="Source Sans Pro"/>
              <a:sym typeface="Source Sans Pro"/>
            </a:endParaRPr>
          </a:p>
          <a:p>
            <a:pPr indent="139" lvl="0" marL="280626" marR="0" rtl="0" algn="just">
              <a:lnSpc>
                <a:spcPct val="95794"/>
              </a:lnSpc>
              <a:spcBef>
                <a:spcPts val="1081"/>
              </a:spcBef>
              <a:spcAft>
                <a:spcPts val="0"/>
              </a:spcAft>
              <a:buNone/>
            </a:pPr>
            <a:r>
              <a:rPr b="1" lang="es" sz="1200">
                <a:solidFill>
                  <a:schemeClr val="dk1"/>
                </a:solidFill>
                <a:latin typeface="Source Sans Pro"/>
                <a:ea typeface="Source Sans Pro"/>
                <a:cs typeface="Source Sans Pro"/>
                <a:sym typeface="Source Sans Pro"/>
              </a:rPr>
              <a:t>Title </a:t>
            </a:r>
            <a:r>
              <a:rPr lang="es" sz="1200">
                <a:solidFill>
                  <a:schemeClr val="dk1"/>
                </a:solidFill>
                <a:latin typeface="Source Sans Pro"/>
                <a:ea typeface="Source Sans Pro"/>
                <a:cs typeface="Source Sans Pro"/>
                <a:sym typeface="Source Sans Pro"/>
              </a:rPr>
              <a:t>: Cybersecurity in Operational Technology Environments. </a:t>
            </a:r>
            <a:r>
              <a:rPr b="1" lang="es" sz="1200">
                <a:solidFill>
                  <a:schemeClr val="dk1"/>
                </a:solidFill>
                <a:latin typeface="Source Sans Pro"/>
                <a:ea typeface="Source Sans Pro"/>
                <a:cs typeface="Source Sans Pro"/>
                <a:sym typeface="Source Sans Pro"/>
              </a:rPr>
              <a:t>Level </a:t>
            </a:r>
            <a:r>
              <a:rPr lang="es" sz="1200">
                <a:solidFill>
                  <a:schemeClr val="dk1"/>
                </a:solidFill>
                <a:latin typeface="Source Sans Pro"/>
                <a:ea typeface="Source Sans Pro"/>
                <a:cs typeface="Source Sans Pro"/>
                <a:sym typeface="Source Sans Pro"/>
              </a:rPr>
              <a:t>: Advanced Vocational Training.</a:t>
            </a:r>
            <a:endParaRPr sz="1200">
              <a:solidFill>
                <a:schemeClr val="dk1"/>
              </a:solidFill>
              <a:latin typeface="Source Sans Pro"/>
              <a:ea typeface="Source Sans Pro"/>
              <a:cs typeface="Source Sans Pro"/>
              <a:sym typeface="Source Sans Pro"/>
            </a:endParaRPr>
          </a:p>
          <a:p>
            <a:pPr indent="0" lvl="0" marL="280766" rtl="0" algn="just">
              <a:spcBef>
                <a:spcPts val="28"/>
              </a:spcBef>
              <a:spcAft>
                <a:spcPts val="0"/>
              </a:spcAft>
              <a:buNone/>
            </a:pPr>
            <a:r>
              <a:rPr b="1" lang="es" sz="1200">
                <a:solidFill>
                  <a:schemeClr val="dk1"/>
                </a:solidFill>
                <a:latin typeface="Source Sans Pro"/>
                <a:ea typeface="Source Sans Pro"/>
                <a:cs typeface="Source Sans Pro"/>
                <a:sym typeface="Source Sans Pro"/>
              </a:rPr>
              <a:t>Duration </a:t>
            </a:r>
            <a:r>
              <a:rPr lang="es" sz="1200">
                <a:solidFill>
                  <a:schemeClr val="dk1"/>
                </a:solidFill>
                <a:latin typeface="Source Sans Pro"/>
                <a:ea typeface="Source Sans Pro"/>
                <a:cs typeface="Source Sans Pro"/>
                <a:sym typeface="Source Sans Pro"/>
              </a:rPr>
              <a:t>: 900 hours.</a:t>
            </a:r>
            <a:endParaRPr sz="1200">
              <a:solidFill>
                <a:schemeClr val="dk1"/>
              </a:solidFill>
              <a:latin typeface="Source Sans Pro"/>
              <a:ea typeface="Source Sans Pro"/>
              <a:cs typeface="Source Sans Pro"/>
              <a:sym typeface="Source Sans Pro"/>
            </a:endParaRPr>
          </a:p>
          <a:p>
            <a:pPr indent="276174" lvl="0" marL="5290" marR="427127" rtl="0" algn="just">
              <a:lnSpc>
                <a:spcPct val="95795"/>
              </a:lnSpc>
              <a:spcBef>
                <a:spcPts val="0"/>
              </a:spcBef>
              <a:spcAft>
                <a:spcPts val="0"/>
              </a:spcAft>
              <a:buNone/>
            </a:pPr>
            <a:r>
              <a:rPr b="1" lang="es" sz="1200">
                <a:solidFill>
                  <a:schemeClr val="dk1"/>
                </a:solidFill>
                <a:latin typeface="Source Sans Pro"/>
                <a:ea typeface="Source Sans Pro"/>
                <a:cs typeface="Source Sans Pro"/>
                <a:sym typeface="Source Sans Pro"/>
              </a:rPr>
              <a:t>Professional Family </a:t>
            </a:r>
            <a:r>
              <a:rPr lang="es" sz="1200">
                <a:solidFill>
                  <a:schemeClr val="dk1"/>
                </a:solidFill>
                <a:latin typeface="Source Sans Pro"/>
                <a:ea typeface="Source Sans Pro"/>
                <a:cs typeface="Source Sans Pro"/>
                <a:sym typeface="Source Sans Pro"/>
              </a:rPr>
              <a:t>: Electricity and Electronics (solely for the purposes of classifying Vocational Training courses).</a:t>
            </a:r>
            <a:endParaRPr sz="1200">
              <a:solidFill>
                <a:schemeClr val="dk1"/>
              </a:solidFill>
              <a:latin typeface="Source Sans Pro"/>
              <a:ea typeface="Source Sans Pro"/>
              <a:cs typeface="Source Sans Pro"/>
              <a:sym typeface="Source Sans Pro"/>
            </a:endParaRPr>
          </a:p>
          <a:p>
            <a:pPr indent="0" lvl="0" marL="281045" rtl="0" algn="just">
              <a:spcBef>
                <a:spcPts val="28"/>
              </a:spcBef>
              <a:spcAft>
                <a:spcPts val="0"/>
              </a:spcAft>
              <a:buNone/>
            </a:pPr>
            <a:r>
              <a:rPr b="1" lang="es" sz="1200">
                <a:solidFill>
                  <a:schemeClr val="dk1"/>
                </a:solidFill>
                <a:latin typeface="Source Sans Pro"/>
                <a:ea typeface="Source Sans Pro"/>
                <a:cs typeface="Source Sans Pro"/>
                <a:sym typeface="Source Sans Pro"/>
              </a:rPr>
              <a:t>Branch of knowledge </a:t>
            </a:r>
            <a:r>
              <a:rPr lang="es" sz="1200">
                <a:solidFill>
                  <a:schemeClr val="dk1"/>
                </a:solidFill>
                <a:latin typeface="Source Sans Pro"/>
                <a:ea typeface="Source Sans Pro"/>
                <a:cs typeface="Source Sans Pro"/>
                <a:sym typeface="Source Sans Pro"/>
              </a:rPr>
              <a:t>: Engineering and Architecture.</a:t>
            </a:r>
            <a:endParaRPr sz="1200">
              <a:solidFill>
                <a:schemeClr val="dk1"/>
              </a:solidFill>
              <a:latin typeface="Source Sans Pro"/>
              <a:ea typeface="Source Sans Pro"/>
              <a:cs typeface="Source Sans Pro"/>
              <a:sym typeface="Source Sans Pro"/>
            </a:endParaRPr>
          </a:p>
          <a:p>
            <a:pPr indent="0" lvl="0" marL="276994" rtl="0" algn="just">
              <a:spcBef>
                <a:spcPts val="0"/>
              </a:spcBef>
              <a:spcAft>
                <a:spcPts val="0"/>
              </a:spcAft>
              <a:buNone/>
            </a:pPr>
            <a:r>
              <a:rPr b="1" lang="es" sz="1200">
                <a:solidFill>
                  <a:schemeClr val="dk1"/>
                </a:solidFill>
                <a:latin typeface="Source Sans Pro"/>
                <a:ea typeface="Source Sans Pro"/>
                <a:cs typeface="Source Sans Pro"/>
                <a:sym typeface="Source Sans Pro"/>
              </a:rPr>
              <a:t>ECTS credits </a:t>
            </a:r>
            <a:r>
              <a:rPr lang="es" sz="1200">
                <a:solidFill>
                  <a:schemeClr val="dk1"/>
                </a:solidFill>
                <a:latin typeface="Source Sans Pro"/>
                <a:ea typeface="Source Sans Pro"/>
                <a:cs typeface="Source Sans Pro"/>
                <a:sym typeface="Source Sans Pro"/>
              </a:rPr>
              <a:t>: 43.</a:t>
            </a:r>
            <a:endParaRPr sz="1200">
              <a:solidFill>
                <a:schemeClr val="dk1"/>
              </a:solidFill>
              <a:latin typeface="Source Sans Pro"/>
              <a:ea typeface="Source Sans Pro"/>
              <a:cs typeface="Source Sans Pro"/>
              <a:sym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pic>
        <p:nvPicPr>
          <p:cNvPr id="152" name="Google Shape;152;p25"/>
          <p:cNvPicPr preferRelativeResize="0"/>
          <p:nvPr/>
        </p:nvPicPr>
        <p:blipFill>
          <a:blip r:embed="rId3">
            <a:alphaModFix/>
          </a:blip>
          <a:stretch>
            <a:fillRect/>
          </a:stretch>
        </p:blipFill>
        <p:spPr>
          <a:xfrm>
            <a:off x="1788425" y="776225"/>
            <a:ext cx="4764774" cy="2539000"/>
          </a:xfrm>
          <a:prstGeom prst="rect">
            <a:avLst/>
          </a:prstGeom>
          <a:noFill/>
          <a:ln>
            <a:noFill/>
          </a:ln>
        </p:spPr>
      </p:pic>
      <p:sp>
        <p:nvSpPr>
          <p:cNvPr id="153" name="Google Shape;153;p25"/>
          <p:cNvSpPr txBox="1"/>
          <p:nvPr/>
        </p:nvSpPr>
        <p:spPr>
          <a:xfrm>
            <a:off x="3260300" y="481975"/>
            <a:ext cx="3000000" cy="415500"/>
          </a:xfrm>
          <a:prstGeom prst="rect">
            <a:avLst/>
          </a:prstGeom>
          <a:noFill/>
          <a:ln>
            <a:noFill/>
          </a:ln>
        </p:spPr>
        <p:txBody>
          <a:bodyPr anchorCtr="0" anchor="t" bIns="91425" lIns="91425" spcFirstLastPara="1" rIns="91425" wrap="square" tIns="91425">
            <a:spAutoFit/>
          </a:bodyPr>
          <a:lstStyle/>
          <a:p>
            <a:pPr indent="0" lvl="0" marL="277990" rtl="0" algn="l">
              <a:spcBef>
                <a:spcPts val="1128"/>
              </a:spcBef>
              <a:spcAft>
                <a:spcPts val="0"/>
              </a:spcAft>
              <a:buNone/>
            </a:pPr>
            <a:r>
              <a:rPr i="1" lang="es" sz="1500">
                <a:solidFill>
                  <a:srgbClr val="666666"/>
                </a:solidFill>
                <a:latin typeface="Georgia"/>
                <a:ea typeface="Georgia"/>
                <a:cs typeface="Georgia"/>
                <a:sym typeface="Georgia"/>
              </a:rPr>
              <a:t>Professional modules.</a:t>
            </a:r>
            <a:endParaRPr/>
          </a:p>
        </p:txBody>
      </p:sp>
      <p:sp>
        <p:nvSpPr>
          <p:cNvPr id="154" name="Google Shape;154;p25"/>
          <p:cNvSpPr txBox="1"/>
          <p:nvPr/>
        </p:nvSpPr>
        <p:spPr>
          <a:xfrm>
            <a:off x="199500" y="3366075"/>
            <a:ext cx="8349600" cy="13119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1200"/>
              </a:spcBef>
              <a:spcAft>
                <a:spcPts val="0"/>
              </a:spcAft>
              <a:buNone/>
            </a:pPr>
            <a:r>
              <a:rPr i="1" lang="es" sz="1500">
                <a:solidFill>
                  <a:srgbClr val="666666"/>
                </a:solidFill>
                <a:latin typeface="Georgia"/>
                <a:ea typeface="Georgia"/>
                <a:cs typeface="Georgia"/>
                <a:sym typeface="Georgia"/>
              </a:rPr>
              <a:t>General competence</a:t>
            </a:r>
            <a:endParaRPr sz="1200">
              <a:solidFill>
                <a:schemeClr val="dk1"/>
              </a:solidFill>
              <a:latin typeface="Source Sans Pro"/>
              <a:ea typeface="Source Sans Pro"/>
              <a:cs typeface="Source Sans Pro"/>
              <a:sym typeface="Source Sans Pro"/>
            </a:endParaRPr>
          </a:p>
          <a:p>
            <a:pPr indent="275336" lvl="0" marL="4871" marR="36433" rtl="0" algn="just">
              <a:lnSpc>
                <a:spcPct val="95795"/>
              </a:lnSpc>
              <a:spcBef>
                <a:spcPts val="1200"/>
              </a:spcBef>
              <a:spcAft>
                <a:spcPts val="0"/>
              </a:spcAft>
              <a:buNone/>
            </a:pPr>
            <a:r>
              <a:rPr lang="es" sz="1200">
                <a:solidFill>
                  <a:schemeClr val="dk1"/>
                </a:solidFill>
                <a:latin typeface="Source Sans Pro"/>
                <a:ea typeface="Source Sans Pro"/>
                <a:cs typeface="Source Sans Pro"/>
                <a:sym typeface="Source Sans Pro"/>
              </a:rPr>
              <a:t>The general competency of this specialization course consists of defining and implementing security strategies in organizations and industrial infrastructures by conducting cybersecurity diagnostics, identifying vulnerabilities, and implementing the necessary measures to mitigate them by applying current regulations and industry standards, following quality, occupational risk prevention, and environmental protection protocols.</a:t>
            </a:r>
            <a:endParaRPr sz="1200">
              <a:solidFill>
                <a:schemeClr val="dk1"/>
              </a:solidFill>
              <a:latin typeface="Source Sans Pro"/>
              <a:ea typeface="Source Sans Pro"/>
              <a:cs typeface="Source Sans Pro"/>
              <a:sym typeface="Source Sans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160" name="Google Shape;160;p26"/>
          <p:cNvSpPr txBox="1"/>
          <p:nvPr/>
        </p:nvSpPr>
        <p:spPr>
          <a:xfrm>
            <a:off x="0" y="506100"/>
            <a:ext cx="8749200" cy="13854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5. </a:t>
            </a:r>
            <a:r>
              <a:rPr b="1" lang="es" sz="2600" cap="small">
                <a:solidFill>
                  <a:schemeClr val="dk1"/>
                </a:solidFill>
                <a:latin typeface="Source Sans Pro"/>
                <a:ea typeface="Source Sans Pro"/>
                <a:cs typeface="Source Sans Pro"/>
                <a:sym typeface="Source Sans Pro"/>
              </a:rPr>
              <a:t>Analyze the relationship between profiles of the European framework and the professional competencies of the IT/OT Decrees</a:t>
            </a:r>
            <a:endParaRPr/>
          </a:p>
        </p:txBody>
      </p:sp>
      <p:sp>
        <p:nvSpPr>
          <p:cNvPr id="161" name="Google Shape;161;p26"/>
          <p:cNvSpPr txBox="1"/>
          <p:nvPr/>
        </p:nvSpPr>
        <p:spPr>
          <a:xfrm>
            <a:off x="379650" y="2106225"/>
            <a:ext cx="8384700" cy="1874400"/>
          </a:xfrm>
          <a:prstGeom prst="rect">
            <a:avLst/>
          </a:prstGeom>
          <a:noFill/>
          <a:ln>
            <a:noFill/>
          </a:ln>
        </p:spPr>
        <p:txBody>
          <a:bodyPr anchorCtr="0" anchor="t" bIns="91425" lIns="91425" spcFirstLastPara="1" rIns="91425" wrap="square" tIns="91425">
            <a:spAutoFit/>
          </a:bodyPr>
          <a:lstStyle/>
          <a:p>
            <a:pPr indent="275336" lvl="0" marL="4871" marR="36433" rtl="0" algn="just">
              <a:lnSpc>
                <a:spcPct val="95795"/>
              </a:lnSpc>
              <a:spcBef>
                <a:spcPts val="1081"/>
              </a:spcBef>
              <a:spcAft>
                <a:spcPts val="0"/>
              </a:spcAft>
              <a:buNone/>
            </a:pPr>
            <a:r>
              <a:rPr lang="es" sz="1200">
                <a:solidFill>
                  <a:schemeClr val="dk1"/>
                </a:solidFill>
                <a:latin typeface="Source Sans Pro"/>
                <a:ea typeface="Source Sans Pro"/>
                <a:cs typeface="Source Sans Pro"/>
                <a:sym typeface="Source Sans Pro"/>
              </a:rPr>
              <a:t>A comparative analysis has been carried out between the European Cybersecurity Competence Framework (ECSF) of ENISA and the curriculum content (Decree) of the Specialization Course in Cybersecurity in Information Technology Environments.</a:t>
            </a:r>
            <a:endParaRPr sz="1200">
              <a:solidFill>
                <a:schemeClr val="dk1"/>
              </a:solidFill>
              <a:latin typeface="Source Sans Pro"/>
              <a:ea typeface="Source Sans Pro"/>
              <a:cs typeface="Source Sans Pro"/>
              <a:sym typeface="Source Sans Pro"/>
            </a:endParaRPr>
          </a:p>
          <a:p>
            <a:pPr indent="275336" lvl="0" marL="4871" marR="36433" rtl="0" algn="just">
              <a:lnSpc>
                <a:spcPct val="95795"/>
              </a:lnSpc>
              <a:spcBef>
                <a:spcPts val="1081"/>
              </a:spcBef>
              <a:spcAft>
                <a:spcPts val="0"/>
              </a:spcAft>
              <a:buNone/>
            </a:pPr>
            <a:r>
              <a:rPr lang="es" sz="1200">
                <a:solidFill>
                  <a:schemeClr val="dk1"/>
                </a:solidFill>
                <a:latin typeface="Source Sans Pro"/>
                <a:ea typeface="Source Sans Pro"/>
                <a:cs typeface="Source Sans Pro"/>
                <a:sym typeface="Source Sans Pro"/>
              </a:rPr>
              <a:t>In each profile, the main tasks (Main task) have been related to the learning outcomes (RA) of each module, the key skills (Key Skills) with the personal and social professional competencies, and the key knowledge (Key knowledge) with the contents of each module.</a:t>
            </a:r>
            <a:endParaRPr sz="1200">
              <a:solidFill>
                <a:schemeClr val="dk1"/>
              </a:solidFill>
              <a:latin typeface="Source Sans Pro"/>
              <a:ea typeface="Source Sans Pro"/>
              <a:cs typeface="Source Sans Pro"/>
              <a:sym typeface="Source Sans Pro"/>
            </a:endParaRPr>
          </a:p>
          <a:p>
            <a:pPr indent="-304800" lvl="0" marL="914400" marR="542850" rtl="0" algn="just">
              <a:spcBef>
                <a:spcPts val="875"/>
              </a:spcBef>
              <a:spcAft>
                <a:spcPts val="0"/>
              </a:spcAft>
              <a:buClr>
                <a:schemeClr val="dk1"/>
              </a:buClr>
              <a:buSzPts val="1200"/>
              <a:buFont typeface="Source Sans Pro"/>
              <a:buChar char="●"/>
            </a:pPr>
            <a:r>
              <a:rPr lang="es" sz="1200">
                <a:solidFill>
                  <a:schemeClr val="dk1"/>
                </a:solidFill>
                <a:latin typeface="Source Sans Pro"/>
                <a:ea typeface="Source Sans Pro"/>
                <a:cs typeface="Source Sans Pro"/>
                <a:sym typeface="Source Sans Pro"/>
              </a:rPr>
              <a:t>Main Task &gt; Module (RA)</a:t>
            </a:r>
            <a:endParaRPr sz="1200">
              <a:solidFill>
                <a:schemeClr val="dk1"/>
              </a:solidFill>
              <a:latin typeface="Source Sans Pro"/>
              <a:ea typeface="Source Sans Pro"/>
              <a:cs typeface="Source Sans Pro"/>
              <a:sym typeface="Source Sans Pro"/>
            </a:endParaRPr>
          </a:p>
          <a:p>
            <a:pPr indent="-304800" lvl="0" marL="914400" marR="542850" rtl="0" algn="just">
              <a:spcBef>
                <a:spcPts val="0"/>
              </a:spcBef>
              <a:spcAft>
                <a:spcPts val="0"/>
              </a:spcAft>
              <a:buClr>
                <a:schemeClr val="dk1"/>
              </a:buClr>
              <a:buSzPts val="1200"/>
              <a:buFont typeface="Source Sans Pro"/>
              <a:buChar char="●"/>
            </a:pPr>
            <a:r>
              <a:rPr lang="es" sz="1200">
                <a:solidFill>
                  <a:schemeClr val="dk1"/>
                </a:solidFill>
                <a:latin typeface="Source Sans Pro"/>
                <a:ea typeface="Source Sans Pro"/>
                <a:cs typeface="Source Sans Pro"/>
                <a:sym typeface="Source Sans Pro"/>
              </a:rPr>
              <a:t>Key skills &gt; Personal and social professional skills</a:t>
            </a:r>
            <a:endParaRPr sz="1200">
              <a:solidFill>
                <a:schemeClr val="dk1"/>
              </a:solidFill>
              <a:latin typeface="Source Sans Pro"/>
              <a:ea typeface="Source Sans Pro"/>
              <a:cs typeface="Source Sans Pro"/>
              <a:sym typeface="Source Sans Pro"/>
            </a:endParaRPr>
          </a:p>
          <a:p>
            <a:pPr indent="-304800" lvl="0" marL="914400" marR="542850" rtl="0" algn="just">
              <a:spcBef>
                <a:spcPts val="0"/>
              </a:spcBef>
              <a:spcAft>
                <a:spcPts val="0"/>
              </a:spcAft>
              <a:buClr>
                <a:schemeClr val="dk1"/>
              </a:buClr>
              <a:buSzPts val="1200"/>
              <a:buFont typeface="Source Sans Pro"/>
              <a:buChar char="●"/>
            </a:pPr>
            <a:r>
              <a:rPr lang="es" sz="1200">
                <a:solidFill>
                  <a:schemeClr val="dk1"/>
                </a:solidFill>
                <a:latin typeface="Source Sans Pro"/>
                <a:ea typeface="Source Sans Pro"/>
                <a:cs typeface="Source Sans Pro"/>
                <a:sym typeface="Source Sans Pro"/>
              </a:rPr>
              <a:t>Key knowledge &gt; Modules (Contents)</a:t>
            </a:r>
            <a:endParaRPr sz="1200">
              <a:solidFill>
                <a:schemeClr val="dk1"/>
              </a:solidFill>
              <a:latin typeface="Source Sans Pro"/>
              <a:ea typeface="Source Sans Pro"/>
              <a:cs typeface="Source Sans Pro"/>
              <a:sym typeface="Source Sans Pr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167" name="Google Shape;167;p27"/>
          <p:cNvSpPr txBox="1"/>
          <p:nvPr/>
        </p:nvSpPr>
        <p:spPr>
          <a:xfrm>
            <a:off x="1506575" y="682675"/>
            <a:ext cx="5924100" cy="492600"/>
          </a:xfrm>
          <a:prstGeom prst="rect">
            <a:avLst/>
          </a:prstGeom>
          <a:noFill/>
          <a:ln>
            <a:noFill/>
          </a:ln>
        </p:spPr>
        <p:txBody>
          <a:bodyPr anchorCtr="0" anchor="t" bIns="91425" lIns="91425" spcFirstLastPara="1" rIns="91425" wrap="square" tIns="91425">
            <a:spAutoFit/>
          </a:bodyPr>
          <a:lstStyle/>
          <a:p>
            <a:pPr indent="0" lvl="0" marL="914400" rtl="0" algn="just">
              <a:spcBef>
                <a:spcPts val="600"/>
              </a:spcBef>
              <a:spcAft>
                <a:spcPts val="600"/>
              </a:spcAft>
              <a:buNone/>
            </a:pPr>
            <a:r>
              <a:rPr b="1" lang="es" sz="2000">
                <a:solidFill>
                  <a:schemeClr val="dk1"/>
                </a:solidFill>
                <a:latin typeface="Source Sans Pro"/>
                <a:ea typeface="Source Sans Pro"/>
                <a:cs typeface="Source Sans Pro"/>
                <a:sym typeface="Source Sans Pro"/>
              </a:rPr>
              <a:t>5.1 ECSF </a:t>
            </a:r>
            <a:r>
              <a:rPr b="1" lang="es" sz="2000">
                <a:solidFill>
                  <a:schemeClr val="dk1"/>
                </a:solidFill>
                <a:latin typeface="Source Sans Pro"/>
                <a:ea typeface="Source Sans Pro"/>
                <a:cs typeface="Source Sans Pro"/>
                <a:sym typeface="Source Sans Pro"/>
              </a:rPr>
              <a:t>Analysis  &amp; IT Decree</a:t>
            </a:r>
            <a:endParaRPr b="1" sz="2000">
              <a:solidFill>
                <a:schemeClr val="dk1"/>
              </a:solidFill>
              <a:latin typeface="Source Sans Pro"/>
              <a:ea typeface="Source Sans Pro"/>
              <a:cs typeface="Source Sans Pro"/>
              <a:sym typeface="Source Sans Pro"/>
            </a:endParaRPr>
          </a:p>
        </p:txBody>
      </p:sp>
      <p:graphicFrame>
        <p:nvGraphicFramePr>
          <p:cNvPr id="168" name="Google Shape;168;p27"/>
          <p:cNvGraphicFramePr/>
          <p:nvPr/>
        </p:nvGraphicFramePr>
        <p:xfrm>
          <a:off x="1258200" y="2571750"/>
          <a:ext cx="3000000" cy="3000000"/>
        </p:xfrm>
        <a:graphic>
          <a:graphicData uri="http://schemas.openxmlformats.org/drawingml/2006/table">
            <a:tbl>
              <a:tblPr>
                <a:noFill/>
                <a:tableStyleId>{4DF03814-BA20-48E7-8217-B6F485C53217}</a:tableStyleId>
              </a:tblPr>
              <a:tblGrid>
                <a:gridCol w="1841425"/>
                <a:gridCol w="889575"/>
                <a:gridCol w="889575"/>
                <a:gridCol w="889575"/>
                <a:gridCol w="889575"/>
              </a:tblGrid>
              <a:tr h="100000">
                <a:tc>
                  <a:txBody>
                    <a:bodyPr/>
                    <a:lstStyle/>
                    <a:p>
                      <a:pPr indent="0" lvl="0" marL="0" rtl="0" algn="ctr">
                        <a:lnSpc>
                          <a:spcPct val="115000"/>
                        </a:lnSpc>
                        <a:spcBef>
                          <a:spcPts val="0"/>
                        </a:spcBef>
                        <a:spcAft>
                          <a:spcPts val="0"/>
                        </a:spcAft>
                        <a:buNone/>
                      </a:pPr>
                      <a:r>
                        <a:rPr lang="es" sz="1100">
                          <a:latin typeface="Calibri"/>
                          <a:ea typeface="Calibri"/>
                          <a:cs typeface="Calibri"/>
                          <a:sym typeface="Calibri"/>
                        </a:rPr>
                        <a:t>ECSF</a:t>
                      </a:r>
                      <a:endParaRPr sz="1100">
                        <a:latin typeface="Calibri"/>
                        <a:ea typeface="Calibri"/>
                        <a:cs typeface="Calibri"/>
                        <a:sym typeface="Calibri"/>
                      </a:endParaRPr>
                    </a:p>
                  </a:txBody>
                  <a:tcPr marT="0" marB="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F7CB4D"/>
                    </a:solidFill>
                  </a:tcPr>
                </a:tc>
                <a:tc>
                  <a:txBody>
                    <a:bodyPr/>
                    <a:lstStyle/>
                    <a:p>
                      <a:pPr indent="0" lvl="0" marL="0" rtl="0" algn="l">
                        <a:lnSpc>
                          <a:spcPct val="115000"/>
                        </a:lnSpc>
                        <a:spcBef>
                          <a:spcPts val="0"/>
                        </a:spcBef>
                        <a:spcAft>
                          <a:spcPts val="0"/>
                        </a:spcAft>
                        <a:buNone/>
                      </a:pPr>
                      <a:r>
                        <a:rPr lang="es" sz="1100">
                          <a:latin typeface="Calibri"/>
                          <a:ea typeface="Calibri"/>
                          <a:cs typeface="Calibri"/>
                          <a:sym typeface="Calibri"/>
                        </a:rPr>
                        <a:t>Main task(s)</a:t>
                      </a:r>
                      <a:endParaRPr sz="1100">
                        <a:latin typeface="Calibri"/>
                        <a:ea typeface="Calibri"/>
                        <a:cs typeface="Calibri"/>
                        <a:sym typeface="Calibri"/>
                      </a:endParaRPr>
                    </a:p>
                  </a:txBody>
                  <a:tcPr marT="0" marB="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F7CB4D"/>
                    </a:solidFill>
                  </a:tcPr>
                </a:tc>
                <a:tc>
                  <a:txBody>
                    <a:bodyPr/>
                    <a:lstStyle/>
                    <a:p>
                      <a:pPr indent="0" lvl="0" marL="0" rtl="0" algn="l">
                        <a:lnSpc>
                          <a:spcPct val="115000"/>
                        </a:lnSpc>
                        <a:spcBef>
                          <a:spcPts val="0"/>
                        </a:spcBef>
                        <a:spcAft>
                          <a:spcPts val="0"/>
                        </a:spcAft>
                        <a:buNone/>
                      </a:pPr>
                      <a:r>
                        <a:rPr lang="es" sz="1100">
                          <a:latin typeface="Calibri"/>
                          <a:ea typeface="Calibri"/>
                          <a:cs typeface="Calibri"/>
                          <a:sym typeface="Calibri"/>
                        </a:rPr>
                        <a:t>Key skill(s)</a:t>
                      </a:r>
                      <a:endParaRPr sz="1100">
                        <a:latin typeface="Calibri"/>
                        <a:ea typeface="Calibri"/>
                        <a:cs typeface="Calibri"/>
                        <a:sym typeface="Calibri"/>
                      </a:endParaRPr>
                    </a:p>
                  </a:txBody>
                  <a:tcPr marT="0" marB="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F7CB4D"/>
                    </a:solidFill>
                  </a:tcPr>
                </a:tc>
                <a:tc>
                  <a:txBody>
                    <a:bodyPr/>
                    <a:lstStyle/>
                    <a:p>
                      <a:pPr indent="0" lvl="0" marL="0" rtl="0" algn="l">
                        <a:lnSpc>
                          <a:spcPct val="115000"/>
                        </a:lnSpc>
                        <a:spcBef>
                          <a:spcPts val="0"/>
                        </a:spcBef>
                        <a:spcAft>
                          <a:spcPts val="0"/>
                        </a:spcAft>
                        <a:buNone/>
                      </a:pPr>
                      <a:r>
                        <a:rPr lang="es" sz="1100">
                          <a:latin typeface="Calibri"/>
                          <a:ea typeface="Calibri"/>
                          <a:cs typeface="Calibri"/>
                          <a:sym typeface="Calibri"/>
                        </a:rPr>
                        <a:t>Key knowledge</a:t>
                      </a:r>
                      <a:endParaRPr sz="1100">
                        <a:latin typeface="Calibri"/>
                        <a:ea typeface="Calibri"/>
                        <a:cs typeface="Calibri"/>
                        <a:sym typeface="Calibri"/>
                      </a:endParaRPr>
                    </a:p>
                  </a:txBody>
                  <a:tcPr marT="0" marB="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F7CB4D"/>
                    </a:solidFill>
                  </a:tcPr>
                </a:tc>
                <a:tc>
                  <a:txBody>
                    <a:bodyPr/>
                    <a:lstStyle/>
                    <a:p>
                      <a:pPr indent="0" lvl="0" marL="0" rtl="0" algn="l">
                        <a:lnSpc>
                          <a:spcPct val="115000"/>
                        </a:lnSpc>
                        <a:spcBef>
                          <a:spcPts val="0"/>
                        </a:spcBef>
                        <a:spcAft>
                          <a:spcPts val="0"/>
                        </a:spcAft>
                        <a:buNone/>
                      </a:pPr>
                      <a:r>
                        <a:rPr lang="es" sz="1100">
                          <a:latin typeface="Calibri"/>
                          <a:ea typeface="Calibri"/>
                          <a:cs typeface="Calibri"/>
                          <a:sym typeface="Calibri"/>
                        </a:rPr>
                        <a:t>Total %</a:t>
                      </a:r>
                      <a:endParaRPr sz="1100">
                        <a:latin typeface="Calibri"/>
                        <a:ea typeface="Calibri"/>
                        <a:cs typeface="Calibri"/>
                        <a:sym typeface="Calibri"/>
                      </a:endParaRPr>
                    </a:p>
                  </a:txBody>
                  <a:tcPr marT="0" marB="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F7CB4D"/>
                    </a:solidFill>
                  </a:tcPr>
                </a:tc>
              </a:tr>
              <a:tr h="190500">
                <a:tc>
                  <a:txBody>
                    <a:bodyPr/>
                    <a:lstStyle/>
                    <a:p>
                      <a:pPr indent="0" lvl="0" marL="0" rtl="0" algn="ctr">
                        <a:lnSpc>
                          <a:spcPct val="115000"/>
                        </a:lnSpc>
                        <a:spcBef>
                          <a:spcPts val="0"/>
                        </a:spcBef>
                        <a:spcAft>
                          <a:spcPts val="0"/>
                        </a:spcAft>
                        <a:buNone/>
                      </a:pPr>
                      <a:r>
                        <a:rPr lang="es" sz="1100">
                          <a:latin typeface="Calibri"/>
                          <a:ea typeface="Calibri"/>
                          <a:cs typeface="Calibri"/>
                          <a:sym typeface="Calibri"/>
                        </a:rPr>
                        <a:t>Decree</a:t>
                      </a:r>
                      <a:endParaRPr sz="1100">
                        <a:latin typeface="Calibri"/>
                        <a:ea typeface="Calibri"/>
                        <a:cs typeface="Calibri"/>
                        <a:sym typeface="Calibri"/>
                      </a:endParaRPr>
                    </a:p>
                  </a:txBody>
                  <a:tcPr marT="0" marB="0" marR="25400" marL="25400" anchor="b">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100">
                          <a:latin typeface="Calibri"/>
                          <a:ea typeface="Calibri"/>
                          <a:cs typeface="Calibri"/>
                          <a:sym typeface="Calibri"/>
                        </a:rPr>
                        <a:t>55%</a:t>
                      </a:r>
                      <a:endParaRPr sz="1100">
                        <a:latin typeface="Calibri"/>
                        <a:ea typeface="Calibri"/>
                        <a:cs typeface="Calibri"/>
                        <a:sym typeface="Calibri"/>
                      </a:endParaRPr>
                    </a:p>
                  </a:txBody>
                  <a:tcPr marT="0" marB="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100">
                          <a:latin typeface="Calibri"/>
                          <a:ea typeface="Calibri"/>
                          <a:cs typeface="Calibri"/>
                          <a:sym typeface="Calibri"/>
                        </a:rPr>
                        <a:t>54%</a:t>
                      </a:r>
                      <a:endParaRPr sz="1100">
                        <a:latin typeface="Calibri"/>
                        <a:ea typeface="Calibri"/>
                        <a:cs typeface="Calibri"/>
                        <a:sym typeface="Calibri"/>
                      </a:endParaRPr>
                    </a:p>
                  </a:txBody>
                  <a:tcPr marT="0" marB="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100">
                          <a:latin typeface="Calibri"/>
                          <a:ea typeface="Calibri"/>
                          <a:cs typeface="Calibri"/>
                          <a:sym typeface="Calibri"/>
                        </a:rPr>
                        <a:t>63%</a:t>
                      </a:r>
                      <a:endParaRPr sz="1100">
                        <a:latin typeface="Calibri"/>
                        <a:ea typeface="Calibri"/>
                        <a:cs typeface="Calibri"/>
                        <a:sym typeface="Calibri"/>
                      </a:endParaRPr>
                    </a:p>
                  </a:txBody>
                  <a:tcPr marT="0" marB="0" marR="25400" marL="25400"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s" sz="1100">
                          <a:latin typeface="Calibri"/>
                          <a:ea typeface="Calibri"/>
                          <a:cs typeface="Calibri"/>
                          <a:sym typeface="Calibri"/>
                        </a:rPr>
                        <a:t>58%</a:t>
                      </a:r>
                      <a:endParaRPr sz="1100">
                        <a:latin typeface="Calibri"/>
                        <a:ea typeface="Calibri"/>
                        <a:cs typeface="Calibri"/>
                        <a:sym typeface="Calibri"/>
                      </a:endParaRPr>
                    </a:p>
                  </a:txBody>
                  <a:tcPr marT="0" marB="0" marR="25400" marL="25400" anchor="b">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69" name="Google Shape;169;p27"/>
          <p:cNvSpPr txBox="1"/>
          <p:nvPr/>
        </p:nvSpPr>
        <p:spPr>
          <a:xfrm>
            <a:off x="518375" y="3261975"/>
            <a:ext cx="7124400" cy="1171500"/>
          </a:xfrm>
          <a:prstGeom prst="rect">
            <a:avLst/>
          </a:prstGeom>
          <a:noFill/>
          <a:ln>
            <a:noFill/>
          </a:ln>
        </p:spPr>
        <p:txBody>
          <a:bodyPr anchorCtr="0" anchor="ctr" bIns="91425" lIns="91425" spcFirstLastPara="1" rIns="91425" wrap="square" tIns="91425">
            <a:noAutofit/>
          </a:bodyPr>
          <a:lstStyle/>
          <a:p>
            <a:pPr indent="457200" lvl="0" marL="0" rtl="0" algn="just">
              <a:lnSpc>
                <a:spcPct val="115000"/>
              </a:lnSpc>
              <a:spcBef>
                <a:spcPts val="1200"/>
              </a:spcBef>
              <a:spcAft>
                <a:spcPts val="1200"/>
              </a:spcAft>
              <a:buNone/>
            </a:pPr>
            <a:r>
              <a:rPr lang="es" sz="1200">
                <a:latin typeface="Source Sans Pro"/>
                <a:ea typeface="Source Sans Pro"/>
                <a:cs typeface="Source Sans Pro"/>
                <a:sym typeface="Source Sans Pro"/>
              </a:rPr>
              <a:t>As we will see, the profiles with the highest scores are associated with more technical knowledge, while those with lower scores are more closely related to management or teaching roles, which is entirely understandable given the nature of the specialization courses.</a:t>
            </a:r>
            <a:endParaRPr sz="1200">
              <a:latin typeface="Source Sans Pro"/>
              <a:ea typeface="Source Sans Pro"/>
              <a:cs typeface="Source Sans Pro"/>
              <a:sym typeface="Source Sans Pro"/>
            </a:endParaRPr>
          </a:p>
        </p:txBody>
      </p:sp>
      <p:sp>
        <p:nvSpPr>
          <p:cNvPr id="170" name="Google Shape;170;p27"/>
          <p:cNvSpPr txBox="1"/>
          <p:nvPr/>
        </p:nvSpPr>
        <p:spPr>
          <a:xfrm>
            <a:off x="959525" y="1690775"/>
            <a:ext cx="6242100" cy="7941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1200"/>
              </a:spcBef>
              <a:spcAft>
                <a:spcPts val="1200"/>
              </a:spcAft>
              <a:buNone/>
            </a:pPr>
            <a:r>
              <a:rPr lang="es" sz="1200">
                <a:solidFill>
                  <a:schemeClr val="dk1"/>
                </a:solidFill>
                <a:latin typeface="Source Sans Pro"/>
                <a:ea typeface="Source Sans Pro"/>
                <a:cs typeface="Source Sans Pro"/>
                <a:sym typeface="Source Sans Pro"/>
              </a:rPr>
              <a:t>Following the study carried out—and</a:t>
            </a:r>
            <a:r>
              <a:rPr lang="es" sz="1200">
                <a:solidFill>
                  <a:schemeClr val="dk1"/>
                </a:solidFill>
                <a:latin typeface="Source Sans Pro"/>
                <a:ea typeface="Source Sans Pro"/>
                <a:cs typeface="Source Sans Pro"/>
                <a:sym typeface="Source Sans Pro"/>
              </a:rPr>
              <a:t> before going into detail in subsequent sections—we will outline, as a </a:t>
            </a:r>
            <a:r>
              <a:rPr b="1" lang="es" sz="1200">
                <a:solidFill>
                  <a:schemeClr val="dk1"/>
                </a:solidFill>
                <a:latin typeface="Source Sans Pro"/>
                <a:ea typeface="Source Sans Pro"/>
                <a:cs typeface="Source Sans Pro"/>
                <a:sym typeface="Source Sans Pro"/>
              </a:rPr>
              <a:t>general overview</a:t>
            </a:r>
            <a:r>
              <a:rPr lang="es" sz="1200">
                <a:solidFill>
                  <a:schemeClr val="dk1"/>
                </a:solidFill>
                <a:latin typeface="Source Sans Pro"/>
                <a:ea typeface="Source Sans Pro"/>
                <a:cs typeface="Source Sans Pro"/>
                <a:sym typeface="Source Sans Pro"/>
              </a:rPr>
              <a:t>, to what extent we conclude that the ECSF profiles are addressed in our Decree.</a:t>
            </a:r>
            <a:endParaRPr sz="1200">
              <a:solidFill>
                <a:schemeClr val="dk1"/>
              </a:solidFill>
              <a:latin typeface="Source Sans Pro"/>
              <a:ea typeface="Source Sans Pro"/>
              <a:cs typeface="Source Sans Pro"/>
              <a:sym typeface="Source Sans Pro"/>
            </a:endParaRPr>
          </a:p>
        </p:txBody>
      </p:sp>
      <p:sp>
        <p:nvSpPr>
          <p:cNvPr id="171" name="Google Shape;171;p27"/>
          <p:cNvSpPr txBox="1"/>
          <p:nvPr/>
        </p:nvSpPr>
        <p:spPr>
          <a:xfrm>
            <a:off x="1428775" y="1232925"/>
            <a:ext cx="3629100" cy="4002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600"/>
              </a:spcAft>
              <a:buNone/>
            </a:pPr>
            <a:r>
              <a:rPr b="1" lang="es">
                <a:solidFill>
                  <a:schemeClr val="dk1"/>
                </a:solidFill>
                <a:latin typeface="Source Sans Pro"/>
                <a:ea typeface="Source Sans Pro"/>
                <a:cs typeface="Source Sans Pro"/>
                <a:sym typeface="Source Sans Pro"/>
              </a:rPr>
              <a:t>5.1.1 General perspective</a:t>
            </a:r>
            <a:endParaRPr b="1">
              <a:solidFill>
                <a:schemeClr val="dk1"/>
              </a:solidFill>
              <a:latin typeface="Source Sans Pro"/>
              <a:ea typeface="Source Sans Pro"/>
              <a:cs typeface="Source Sans Pro"/>
              <a:sym typeface="Source Sans Pr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pic>
        <p:nvPicPr>
          <p:cNvPr id="177" name="Google Shape;177;p28"/>
          <p:cNvPicPr preferRelativeResize="0"/>
          <p:nvPr/>
        </p:nvPicPr>
        <p:blipFill>
          <a:blip r:embed="rId3">
            <a:alphaModFix/>
          </a:blip>
          <a:stretch>
            <a:fillRect/>
          </a:stretch>
        </p:blipFill>
        <p:spPr>
          <a:xfrm>
            <a:off x="2002025" y="1973200"/>
            <a:ext cx="3777851" cy="2894050"/>
          </a:xfrm>
          <a:prstGeom prst="rect">
            <a:avLst/>
          </a:prstGeom>
          <a:noFill/>
          <a:ln>
            <a:noFill/>
          </a:ln>
        </p:spPr>
      </p:pic>
      <p:sp>
        <p:nvSpPr>
          <p:cNvPr id="178" name="Google Shape;178;p28"/>
          <p:cNvSpPr txBox="1"/>
          <p:nvPr/>
        </p:nvSpPr>
        <p:spPr>
          <a:xfrm>
            <a:off x="1538950" y="492850"/>
            <a:ext cx="7443300" cy="15624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1200"/>
              </a:spcBef>
              <a:spcAft>
                <a:spcPts val="0"/>
              </a:spcAft>
              <a:buNone/>
            </a:pPr>
            <a:r>
              <a:rPr b="1" lang="es">
                <a:solidFill>
                  <a:schemeClr val="dk1"/>
                </a:solidFill>
                <a:latin typeface="Source Sans Pro"/>
                <a:ea typeface="Source Sans Pro"/>
                <a:cs typeface="Source Sans Pro"/>
                <a:sym typeface="Source Sans Pro"/>
              </a:rPr>
              <a:t> 5.1.2</a:t>
            </a:r>
            <a:r>
              <a:rPr b="1" lang="es" sz="1200">
                <a:solidFill>
                  <a:schemeClr val="dk1"/>
                </a:solidFill>
                <a:latin typeface="Source Sans Pro"/>
                <a:ea typeface="Source Sans Pro"/>
                <a:cs typeface="Source Sans Pro"/>
                <a:sym typeface="Source Sans Pro"/>
              </a:rPr>
              <a:t> </a:t>
            </a:r>
            <a:r>
              <a:rPr b="1" lang="es">
                <a:solidFill>
                  <a:schemeClr val="dk1"/>
                </a:solidFill>
                <a:latin typeface="Source Sans Pro"/>
                <a:ea typeface="Source Sans Pro"/>
                <a:cs typeface="Source Sans Pro"/>
                <a:sym typeface="Source Sans Pro"/>
              </a:rPr>
              <a:t>More detailed information</a:t>
            </a:r>
            <a:endParaRPr b="1">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Clr>
                <a:schemeClr val="dk1"/>
              </a:buClr>
              <a:buSzPts val="1100"/>
              <a:buFont typeface="Arial"/>
              <a:buNone/>
            </a:pPr>
            <a:r>
              <a:rPr lang="es" sz="1200">
                <a:solidFill>
                  <a:schemeClr val="dk1"/>
                </a:solidFill>
                <a:latin typeface="Source Sans Pro"/>
                <a:ea typeface="Source Sans Pro"/>
                <a:cs typeface="Source Sans Pro"/>
                <a:sym typeface="Source Sans Pro"/>
              </a:rPr>
              <a:t>The total score per profile (sum of tasks, skills, and knowledge) allows us to estimate alignment. Higher values indicate a greater alignment of the Decree with the European framework. Below is a table sorted by the percentage of total alignment by profile:</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None/>
            </a:pPr>
            <a:r>
              <a:rPr lang="es" sz="1200">
                <a:solidFill>
                  <a:schemeClr val="dk1"/>
                </a:solidFill>
                <a:latin typeface="Source Sans Pro"/>
                <a:ea typeface="Source Sans Pro"/>
                <a:cs typeface="Source Sans Pro"/>
                <a:sym typeface="Source Sans Pro"/>
              </a:rPr>
              <a:t>Table sorted by the percentage of total alignment by profile:</a:t>
            </a:r>
            <a:endParaRPr sz="1200">
              <a:solidFill>
                <a:schemeClr val="dk1"/>
              </a:solidFill>
              <a:latin typeface="Source Sans Pro"/>
              <a:ea typeface="Source Sans Pro"/>
              <a:cs typeface="Source Sans Pro"/>
              <a:sym typeface="Source Sans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184" name="Google Shape;184;p29"/>
          <p:cNvSpPr txBox="1"/>
          <p:nvPr/>
        </p:nvSpPr>
        <p:spPr>
          <a:xfrm>
            <a:off x="1706650" y="541425"/>
            <a:ext cx="6159600" cy="400200"/>
          </a:xfrm>
          <a:prstGeom prst="rect">
            <a:avLst/>
          </a:prstGeom>
          <a:noFill/>
          <a:ln>
            <a:noFill/>
          </a:ln>
        </p:spPr>
        <p:txBody>
          <a:bodyPr anchorCtr="0" anchor="t" bIns="91425" lIns="91425" spcFirstLastPara="1" rIns="91425" wrap="square" tIns="91425">
            <a:spAutoFit/>
          </a:bodyPr>
          <a:lstStyle/>
          <a:p>
            <a:pPr indent="0" lvl="0" marL="1371600" rtl="0" algn="just">
              <a:lnSpc>
                <a:spcPct val="150000"/>
              </a:lnSpc>
              <a:spcBef>
                <a:spcPts val="1400"/>
              </a:spcBef>
              <a:spcAft>
                <a:spcPts val="400"/>
              </a:spcAft>
              <a:buNone/>
            </a:pPr>
            <a:r>
              <a:rPr b="1" lang="es">
                <a:solidFill>
                  <a:schemeClr val="dk1"/>
                </a:solidFill>
                <a:latin typeface="Source Sans Pro"/>
                <a:ea typeface="Source Sans Pro"/>
                <a:cs typeface="Source Sans Pro"/>
                <a:sym typeface="Source Sans Pro"/>
              </a:rPr>
              <a:t>5.1.3 </a:t>
            </a:r>
            <a:r>
              <a:rPr b="1" lang="es">
                <a:solidFill>
                  <a:schemeClr val="dk1"/>
                </a:solidFill>
                <a:latin typeface="Source Sans Pro"/>
                <a:ea typeface="Source Sans Pro"/>
                <a:cs typeface="Source Sans Pro"/>
                <a:sym typeface="Source Sans Pro"/>
              </a:rPr>
              <a:t>Classification according to alignment</a:t>
            </a:r>
            <a:endParaRPr b="1">
              <a:solidFill>
                <a:schemeClr val="dk1"/>
              </a:solidFill>
              <a:latin typeface="Source Sans Pro"/>
              <a:ea typeface="Source Sans Pro"/>
              <a:cs typeface="Source Sans Pro"/>
              <a:sym typeface="Source Sans Pro"/>
            </a:endParaRPr>
          </a:p>
        </p:txBody>
      </p:sp>
      <p:sp>
        <p:nvSpPr>
          <p:cNvPr id="185" name="Google Shape;185;p29"/>
          <p:cNvSpPr txBox="1"/>
          <p:nvPr/>
        </p:nvSpPr>
        <p:spPr>
          <a:xfrm>
            <a:off x="458425" y="1011600"/>
            <a:ext cx="7902300" cy="10011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1200"/>
              </a:spcBef>
              <a:spcAft>
                <a:spcPts val="0"/>
              </a:spcAft>
              <a:buNone/>
            </a:pPr>
            <a:r>
              <a:rPr i="1" lang="es" sz="1500">
                <a:solidFill>
                  <a:srgbClr val="666666"/>
                </a:solidFill>
                <a:latin typeface="Source Sans Pro"/>
                <a:ea typeface="Source Sans Pro"/>
                <a:cs typeface="Source Sans Pro"/>
                <a:sym typeface="Source Sans Pro"/>
              </a:rPr>
              <a:t>Stronger Alignment: Technical and Practical Functions</a:t>
            </a:r>
            <a:endParaRPr i="1" sz="1500">
              <a:solidFill>
                <a:srgbClr val="666666"/>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None/>
            </a:pPr>
            <a:r>
              <a:rPr lang="es" sz="1200">
                <a:solidFill>
                  <a:schemeClr val="dk1"/>
                </a:solidFill>
                <a:latin typeface="Source Sans Pro"/>
                <a:ea typeface="Source Sans Pro"/>
                <a:cs typeface="Source Sans Pro"/>
                <a:sym typeface="Source Sans Pro"/>
              </a:rPr>
              <a:t>The highest match rates are found in profiles focused on those that require greater technical knowledge that can be put into practice in the classroom.</a:t>
            </a:r>
            <a:endParaRPr sz="1200">
              <a:solidFill>
                <a:schemeClr val="dk1"/>
              </a:solidFill>
              <a:latin typeface="Source Sans Pro"/>
              <a:ea typeface="Source Sans Pro"/>
              <a:cs typeface="Source Sans Pro"/>
              <a:sym typeface="Source Sans Pro"/>
            </a:endParaRPr>
          </a:p>
        </p:txBody>
      </p:sp>
      <p:pic>
        <p:nvPicPr>
          <p:cNvPr id="186" name="Google Shape;186;p29"/>
          <p:cNvPicPr preferRelativeResize="0"/>
          <p:nvPr/>
        </p:nvPicPr>
        <p:blipFill>
          <a:blip r:embed="rId3">
            <a:alphaModFix/>
          </a:blip>
          <a:stretch>
            <a:fillRect/>
          </a:stretch>
        </p:blipFill>
        <p:spPr>
          <a:xfrm>
            <a:off x="152400" y="2165100"/>
            <a:ext cx="8391525" cy="2124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192" name="Google Shape;192;p30"/>
          <p:cNvSpPr txBox="1"/>
          <p:nvPr/>
        </p:nvSpPr>
        <p:spPr>
          <a:xfrm>
            <a:off x="300100" y="882750"/>
            <a:ext cx="8972700" cy="1004400"/>
          </a:xfrm>
          <a:prstGeom prst="rect">
            <a:avLst/>
          </a:prstGeom>
          <a:noFill/>
          <a:ln>
            <a:noFill/>
          </a:ln>
        </p:spPr>
        <p:txBody>
          <a:bodyPr anchorCtr="0" anchor="t" bIns="91425" lIns="91425" spcFirstLastPara="1" rIns="91425" wrap="square" tIns="91425">
            <a:spAutoFit/>
          </a:bodyPr>
          <a:lstStyle/>
          <a:p>
            <a:pPr indent="0" lvl="0" marL="719999" marR="542850" rtl="0" algn="just">
              <a:lnSpc>
                <a:spcPct val="116363"/>
              </a:lnSpc>
              <a:spcBef>
                <a:spcPts val="3156"/>
              </a:spcBef>
              <a:spcAft>
                <a:spcPts val="0"/>
              </a:spcAft>
              <a:buNone/>
            </a:pPr>
            <a:r>
              <a:rPr i="1" lang="es" sz="1500">
                <a:solidFill>
                  <a:srgbClr val="666666"/>
                </a:solidFill>
                <a:latin typeface="Source Sans Pro"/>
                <a:ea typeface="Source Sans Pro"/>
                <a:cs typeface="Source Sans Pro"/>
                <a:sym typeface="Source Sans Pro"/>
              </a:rPr>
              <a:t>Moderate alignment: strategic and governance-oriented profiles</a:t>
            </a:r>
            <a:endParaRPr b="1"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None/>
            </a:pPr>
            <a:r>
              <a:rPr lang="es" sz="1200">
                <a:solidFill>
                  <a:schemeClr val="dk1"/>
                </a:solidFill>
                <a:latin typeface="Source Sans Pro"/>
                <a:ea typeface="Source Sans Pro"/>
                <a:cs typeface="Source Sans Pro"/>
                <a:sym typeface="Source Sans Pro"/>
              </a:rPr>
              <a:t>Several profiles show moderate levels of alignment; these profiles have been able to be addressed in detail in the classroom, but are more difficult to address in simulated environments like those used in the classroom.</a:t>
            </a:r>
            <a:endParaRPr sz="1200">
              <a:solidFill>
                <a:schemeClr val="dk1"/>
              </a:solidFill>
              <a:latin typeface="Source Sans Pro"/>
              <a:ea typeface="Source Sans Pro"/>
              <a:cs typeface="Source Sans Pro"/>
              <a:sym typeface="Source Sans Pro"/>
            </a:endParaRPr>
          </a:p>
        </p:txBody>
      </p:sp>
      <p:sp>
        <p:nvSpPr>
          <p:cNvPr id="193" name="Google Shape;193;p30"/>
          <p:cNvSpPr txBox="1"/>
          <p:nvPr/>
        </p:nvSpPr>
        <p:spPr>
          <a:xfrm>
            <a:off x="1706650" y="541425"/>
            <a:ext cx="6159600" cy="400200"/>
          </a:xfrm>
          <a:prstGeom prst="rect">
            <a:avLst/>
          </a:prstGeom>
          <a:noFill/>
          <a:ln>
            <a:noFill/>
          </a:ln>
        </p:spPr>
        <p:txBody>
          <a:bodyPr anchorCtr="0" anchor="t" bIns="91425" lIns="91425" spcFirstLastPara="1" rIns="91425" wrap="square" tIns="91425">
            <a:spAutoFit/>
          </a:bodyPr>
          <a:lstStyle/>
          <a:p>
            <a:pPr indent="0" lvl="0" marL="1371600" rtl="0" algn="just">
              <a:lnSpc>
                <a:spcPct val="150000"/>
              </a:lnSpc>
              <a:spcBef>
                <a:spcPts val="1400"/>
              </a:spcBef>
              <a:spcAft>
                <a:spcPts val="400"/>
              </a:spcAft>
              <a:buNone/>
            </a:pPr>
            <a:r>
              <a:rPr b="1" lang="es">
                <a:solidFill>
                  <a:schemeClr val="dk1"/>
                </a:solidFill>
                <a:latin typeface="Source Sans Pro"/>
                <a:ea typeface="Source Sans Pro"/>
                <a:cs typeface="Source Sans Pro"/>
                <a:sym typeface="Source Sans Pro"/>
              </a:rPr>
              <a:t>5.1.3 Classification according to alignment</a:t>
            </a:r>
            <a:endParaRPr b="1">
              <a:solidFill>
                <a:schemeClr val="dk1"/>
              </a:solidFill>
              <a:latin typeface="Source Sans Pro"/>
              <a:ea typeface="Source Sans Pro"/>
              <a:cs typeface="Source Sans Pro"/>
              <a:sym typeface="Source Sans Pro"/>
            </a:endParaRPr>
          </a:p>
        </p:txBody>
      </p:sp>
      <p:pic>
        <p:nvPicPr>
          <p:cNvPr id="194" name="Google Shape;194;p30"/>
          <p:cNvPicPr preferRelativeResize="0"/>
          <p:nvPr/>
        </p:nvPicPr>
        <p:blipFill>
          <a:blip r:embed="rId3">
            <a:alphaModFix/>
          </a:blip>
          <a:stretch>
            <a:fillRect/>
          </a:stretch>
        </p:blipFill>
        <p:spPr>
          <a:xfrm>
            <a:off x="811525" y="1968925"/>
            <a:ext cx="6908306" cy="248603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00" name="Google Shape;200;p31"/>
          <p:cNvSpPr txBox="1"/>
          <p:nvPr/>
        </p:nvSpPr>
        <p:spPr>
          <a:xfrm>
            <a:off x="443050" y="941625"/>
            <a:ext cx="8686800" cy="966600"/>
          </a:xfrm>
          <a:prstGeom prst="rect">
            <a:avLst/>
          </a:prstGeom>
          <a:noFill/>
          <a:ln>
            <a:noFill/>
          </a:ln>
        </p:spPr>
        <p:txBody>
          <a:bodyPr anchorCtr="0" anchor="t" bIns="91425" lIns="91425" spcFirstLastPara="1" rIns="91425" wrap="square" tIns="91425">
            <a:spAutoFit/>
          </a:bodyPr>
          <a:lstStyle/>
          <a:p>
            <a:pPr indent="0" lvl="0" marL="719999" marR="542850" rtl="0" algn="just">
              <a:spcBef>
                <a:spcPts val="3290"/>
              </a:spcBef>
              <a:spcAft>
                <a:spcPts val="0"/>
              </a:spcAft>
              <a:buNone/>
            </a:pPr>
            <a:r>
              <a:rPr i="1" lang="es" sz="1500">
                <a:solidFill>
                  <a:srgbClr val="666666"/>
                </a:solidFill>
                <a:latin typeface="Source Sans Pro"/>
                <a:ea typeface="Source Sans Pro"/>
                <a:cs typeface="Source Sans Pro"/>
                <a:sym typeface="Source Sans Pro"/>
              </a:rPr>
              <a:t>Bottom lineup: specialized or management profiles</a:t>
            </a:r>
            <a:endParaRPr b="1"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None/>
            </a:pPr>
            <a:r>
              <a:rPr lang="es" sz="1200">
                <a:solidFill>
                  <a:schemeClr val="dk1"/>
                </a:solidFill>
                <a:latin typeface="Source Sans Pro"/>
                <a:ea typeface="Source Sans Pro"/>
                <a:cs typeface="Source Sans Pro"/>
                <a:sym typeface="Source Sans Pro"/>
              </a:rPr>
              <a:t>As expected, the more specific profiles, those with a greater management component or those related to strategic outreach, have a lower level of alignment.</a:t>
            </a:r>
            <a:endParaRPr/>
          </a:p>
        </p:txBody>
      </p:sp>
      <p:sp>
        <p:nvSpPr>
          <p:cNvPr id="201" name="Google Shape;201;p31"/>
          <p:cNvSpPr txBox="1"/>
          <p:nvPr/>
        </p:nvSpPr>
        <p:spPr>
          <a:xfrm>
            <a:off x="1706650" y="541425"/>
            <a:ext cx="6159600" cy="400200"/>
          </a:xfrm>
          <a:prstGeom prst="rect">
            <a:avLst/>
          </a:prstGeom>
          <a:noFill/>
          <a:ln>
            <a:noFill/>
          </a:ln>
        </p:spPr>
        <p:txBody>
          <a:bodyPr anchorCtr="0" anchor="t" bIns="91425" lIns="91425" spcFirstLastPara="1" rIns="91425" wrap="square" tIns="91425">
            <a:spAutoFit/>
          </a:bodyPr>
          <a:lstStyle/>
          <a:p>
            <a:pPr indent="0" lvl="0" marL="1371600" rtl="0" algn="just">
              <a:lnSpc>
                <a:spcPct val="150000"/>
              </a:lnSpc>
              <a:spcBef>
                <a:spcPts val="1400"/>
              </a:spcBef>
              <a:spcAft>
                <a:spcPts val="400"/>
              </a:spcAft>
              <a:buNone/>
            </a:pPr>
            <a:r>
              <a:rPr b="1" lang="es">
                <a:solidFill>
                  <a:schemeClr val="dk1"/>
                </a:solidFill>
                <a:latin typeface="Source Sans Pro"/>
                <a:ea typeface="Source Sans Pro"/>
                <a:cs typeface="Source Sans Pro"/>
                <a:sym typeface="Source Sans Pro"/>
              </a:rPr>
              <a:t>5.1.3 Classification according to alignment</a:t>
            </a:r>
            <a:endParaRPr b="1">
              <a:solidFill>
                <a:schemeClr val="dk1"/>
              </a:solidFill>
              <a:latin typeface="Source Sans Pro"/>
              <a:ea typeface="Source Sans Pro"/>
              <a:cs typeface="Source Sans Pro"/>
              <a:sym typeface="Source Sans Pro"/>
            </a:endParaRPr>
          </a:p>
        </p:txBody>
      </p:sp>
      <p:pic>
        <p:nvPicPr>
          <p:cNvPr id="202" name="Google Shape;202;p31"/>
          <p:cNvPicPr preferRelativeResize="0"/>
          <p:nvPr/>
        </p:nvPicPr>
        <p:blipFill>
          <a:blip r:embed="rId3">
            <a:alphaModFix/>
          </a:blip>
          <a:stretch>
            <a:fillRect/>
          </a:stretch>
        </p:blipFill>
        <p:spPr>
          <a:xfrm>
            <a:off x="623200" y="2095925"/>
            <a:ext cx="7407874" cy="2063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08" name="Google Shape;208;p32"/>
          <p:cNvSpPr txBox="1"/>
          <p:nvPr/>
        </p:nvSpPr>
        <p:spPr>
          <a:xfrm>
            <a:off x="341325" y="1165225"/>
            <a:ext cx="8686800" cy="1850100"/>
          </a:xfrm>
          <a:prstGeom prst="rect">
            <a:avLst/>
          </a:prstGeom>
          <a:noFill/>
          <a:ln>
            <a:noFill/>
          </a:ln>
        </p:spPr>
        <p:txBody>
          <a:bodyPr anchorCtr="0" anchor="t" bIns="91425" lIns="91425" spcFirstLastPara="1" rIns="91425" wrap="square" tIns="91425">
            <a:spAutoFit/>
          </a:bodyPr>
          <a:lstStyle/>
          <a:p>
            <a:pPr indent="0" lvl="0" marL="914400" rtl="0" algn="just">
              <a:lnSpc>
                <a:spcPct val="150000"/>
              </a:lnSpc>
              <a:spcBef>
                <a:spcPts val="1400"/>
              </a:spcBef>
              <a:spcAft>
                <a:spcPts val="0"/>
              </a:spcAft>
              <a:buNone/>
            </a:pPr>
            <a:r>
              <a:rPr b="1" lang="es">
                <a:solidFill>
                  <a:schemeClr val="dk1"/>
                </a:solidFill>
                <a:latin typeface="Source Sans Pro"/>
                <a:ea typeface="Source Sans Pro"/>
                <a:cs typeface="Source Sans Pro"/>
                <a:sym typeface="Source Sans Pro"/>
              </a:rPr>
              <a:t>5.1.4 </a:t>
            </a:r>
            <a:r>
              <a:rPr b="1" lang="es">
                <a:solidFill>
                  <a:schemeClr val="dk1"/>
                </a:solidFill>
                <a:latin typeface="Source Sans Pro"/>
                <a:ea typeface="Source Sans Pro"/>
                <a:cs typeface="Source Sans Pro"/>
                <a:sym typeface="Source Sans Pro"/>
              </a:rPr>
              <a:t>Conclusions</a:t>
            </a:r>
            <a:endParaRPr b="1">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None/>
            </a:pPr>
            <a:r>
              <a:rPr lang="es" sz="1200">
                <a:solidFill>
                  <a:schemeClr val="dk1"/>
                </a:solidFill>
                <a:latin typeface="Source Sans Pro"/>
                <a:ea typeface="Source Sans Pro"/>
                <a:cs typeface="Source Sans Pro"/>
                <a:sym typeface="Source Sans Pro"/>
              </a:rPr>
              <a:t>The data show that the Decree covers more than 50% of the details of the profiles defined by the ECSF in general. In detail, four profiles are strongly aligned (70% or more), five are moderately aligned (45% or more), and three are weakly aligned (less than 45%). Furthermore, of the 12 profiles, eight are aligned above 50%, and three are aligned above 75%.</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None/>
            </a:pPr>
            <a:r>
              <a:rPr lang="es" sz="1200">
                <a:solidFill>
                  <a:schemeClr val="dk1"/>
                </a:solidFill>
                <a:latin typeface="Source Sans Pro"/>
                <a:ea typeface="Source Sans Pro"/>
                <a:cs typeface="Source Sans Pro"/>
                <a:sym typeface="Source Sans Pro"/>
              </a:rPr>
              <a:t>We believe that, for a full-length specialization course, the data demonstrates that the curriculum is highly tailored and aligned with key technical functions in European cybersecurity.</a:t>
            </a:r>
            <a:endParaRPr sz="1200">
              <a:solidFill>
                <a:schemeClr val="dk1"/>
              </a:solidFill>
              <a:latin typeface="Source Sans Pro"/>
              <a:ea typeface="Source Sans Pro"/>
              <a:cs typeface="Source Sans Pro"/>
              <a:sym typeface="Source Sans Pro"/>
            </a:endParaRPr>
          </a:p>
        </p:txBody>
      </p:sp>
      <p:sp>
        <p:nvSpPr>
          <p:cNvPr id="209" name="Google Shape;209;p3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317500" lvl="2" marL="1371600" rtl="0" algn="just">
              <a:lnSpc>
                <a:spcPct val="150000"/>
              </a:lnSpc>
              <a:spcBef>
                <a:spcPts val="1400"/>
              </a:spcBef>
              <a:spcAft>
                <a:spcPts val="400"/>
              </a:spcAft>
              <a:buClr>
                <a:schemeClr val="dk1"/>
              </a:buClr>
              <a:buSzPts val="1400"/>
              <a:buFont typeface="Source Sans Pro"/>
              <a:buAutoNum type="arabicPeriod"/>
            </a:pPr>
            <a:r>
              <a:rPr b="1" lang="es">
                <a:solidFill>
                  <a:schemeClr val="dk1"/>
                </a:solidFill>
                <a:latin typeface="Source Sans Pro"/>
                <a:ea typeface="Source Sans Pro"/>
                <a:cs typeface="Source Sans Pro"/>
                <a:sym typeface="Source Sans Pro"/>
              </a:rPr>
              <a:t>Conclusions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15" name="Google Shape;215;p33"/>
          <p:cNvSpPr txBox="1"/>
          <p:nvPr/>
        </p:nvSpPr>
        <p:spPr>
          <a:xfrm>
            <a:off x="1506575" y="682675"/>
            <a:ext cx="5924100" cy="492600"/>
          </a:xfrm>
          <a:prstGeom prst="rect">
            <a:avLst/>
          </a:prstGeom>
          <a:noFill/>
          <a:ln>
            <a:noFill/>
          </a:ln>
        </p:spPr>
        <p:txBody>
          <a:bodyPr anchorCtr="0" anchor="t" bIns="91425" lIns="91425" spcFirstLastPara="1" rIns="91425" wrap="square" tIns="91425">
            <a:spAutoFit/>
          </a:bodyPr>
          <a:lstStyle/>
          <a:p>
            <a:pPr indent="0" lvl="0" marL="914400" rtl="0" algn="just">
              <a:spcBef>
                <a:spcPts val="600"/>
              </a:spcBef>
              <a:spcAft>
                <a:spcPts val="600"/>
              </a:spcAft>
              <a:buNone/>
            </a:pPr>
            <a:r>
              <a:rPr b="1" lang="es" sz="2000">
                <a:solidFill>
                  <a:schemeClr val="dk1"/>
                </a:solidFill>
                <a:latin typeface="Source Sans Pro"/>
                <a:ea typeface="Source Sans Pro"/>
                <a:cs typeface="Source Sans Pro"/>
                <a:sym typeface="Source Sans Pro"/>
              </a:rPr>
              <a:t>5.2 ECSF Analysis  &amp; OT Decree</a:t>
            </a:r>
            <a:endParaRPr b="1" sz="2000">
              <a:solidFill>
                <a:schemeClr val="dk1"/>
              </a:solidFill>
              <a:latin typeface="Source Sans Pro"/>
              <a:ea typeface="Source Sans Pro"/>
              <a:cs typeface="Source Sans Pro"/>
              <a:sym typeface="Source Sans Pro"/>
            </a:endParaRPr>
          </a:p>
        </p:txBody>
      </p:sp>
      <p:sp>
        <p:nvSpPr>
          <p:cNvPr id="216" name="Google Shape;216;p33"/>
          <p:cNvSpPr txBox="1"/>
          <p:nvPr/>
        </p:nvSpPr>
        <p:spPr>
          <a:xfrm>
            <a:off x="518375" y="3261975"/>
            <a:ext cx="7124400" cy="1171500"/>
          </a:xfrm>
          <a:prstGeom prst="rect">
            <a:avLst/>
          </a:prstGeom>
          <a:noFill/>
          <a:ln>
            <a:noFill/>
          </a:ln>
        </p:spPr>
        <p:txBody>
          <a:bodyPr anchorCtr="0" anchor="ctr" bIns="91425" lIns="91425" spcFirstLastPara="1" rIns="91425" wrap="square" tIns="91425">
            <a:noAutofit/>
          </a:bodyPr>
          <a:lstStyle/>
          <a:p>
            <a:pPr indent="457200" lvl="0" marL="0" rtl="0" algn="just">
              <a:lnSpc>
                <a:spcPct val="115000"/>
              </a:lnSpc>
              <a:spcBef>
                <a:spcPts val="1200"/>
              </a:spcBef>
              <a:spcAft>
                <a:spcPts val="0"/>
              </a:spcAft>
              <a:buNone/>
            </a:pPr>
            <a:r>
              <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Clr>
                <a:schemeClr val="dk1"/>
              </a:buClr>
              <a:buSzPts val="1100"/>
              <a:buFont typeface="Arial"/>
              <a:buNone/>
            </a:pPr>
            <a:r>
              <a:rPr lang="es" sz="1200">
                <a:solidFill>
                  <a:schemeClr val="dk1"/>
                </a:solidFill>
                <a:latin typeface="Source Sans Pro"/>
                <a:ea typeface="Source Sans Pro"/>
                <a:cs typeface="Source Sans Pro"/>
                <a:sym typeface="Source Sans Pro"/>
              </a:rPr>
              <a:t>The data show varying levels of alignment between professional profiles and the needs of the OT environment. Functions with higher combined scores indicate stronger alignment with technical operations, while others stand out for their strategic components or thematic specialization.</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None/>
            </a:pPr>
            <a:r>
              <a:t/>
            </a:r>
            <a:endParaRPr sz="1200">
              <a:latin typeface="Source Sans Pro"/>
              <a:ea typeface="Source Sans Pro"/>
              <a:cs typeface="Source Sans Pro"/>
              <a:sym typeface="Source Sans Pro"/>
            </a:endParaRPr>
          </a:p>
        </p:txBody>
      </p:sp>
      <p:sp>
        <p:nvSpPr>
          <p:cNvPr id="217" name="Google Shape;217;p33"/>
          <p:cNvSpPr txBox="1"/>
          <p:nvPr/>
        </p:nvSpPr>
        <p:spPr>
          <a:xfrm>
            <a:off x="959525" y="1690775"/>
            <a:ext cx="6242100" cy="7941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1200"/>
              </a:spcBef>
              <a:spcAft>
                <a:spcPts val="1200"/>
              </a:spcAft>
              <a:buClr>
                <a:schemeClr val="dk1"/>
              </a:buClr>
              <a:buSzPts val="1100"/>
              <a:buFont typeface="Arial"/>
              <a:buNone/>
            </a:pPr>
            <a:r>
              <a:rPr lang="es" sz="1200">
                <a:solidFill>
                  <a:schemeClr val="dk1"/>
                </a:solidFill>
                <a:latin typeface="Source Sans Pro"/>
                <a:ea typeface="Source Sans Pro"/>
                <a:cs typeface="Source Sans Pro"/>
                <a:sym typeface="Source Sans Pro"/>
              </a:rPr>
              <a:t>Following the study carried out—and before going into detail in subsequent sections—we will outline, as a general overview, to what extent we conclude that the ECSF profiles are addressed in our Decree.</a:t>
            </a:r>
            <a:endParaRPr sz="1200">
              <a:solidFill>
                <a:schemeClr val="dk1"/>
              </a:solidFill>
              <a:latin typeface="Source Sans Pro"/>
              <a:ea typeface="Source Sans Pro"/>
              <a:cs typeface="Source Sans Pro"/>
              <a:sym typeface="Source Sans Pro"/>
            </a:endParaRPr>
          </a:p>
        </p:txBody>
      </p:sp>
      <p:sp>
        <p:nvSpPr>
          <p:cNvPr id="218" name="Google Shape;218;p33"/>
          <p:cNvSpPr txBox="1"/>
          <p:nvPr/>
        </p:nvSpPr>
        <p:spPr>
          <a:xfrm>
            <a:off x="1428775" y="1232925"/>
            <a:ext cx="3629100" cy="4002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600"/>
              </a:spcAft>
              <a:buNone/>
            </a:pPr>
            <a:r>
              <a:rPr b="1" lang="es">
                <a:solidFill>
                  <a:schemeClr val="dk1"/>
                </a:solidFill>
                <a:latin typeface="Source Sans Pro"/>
                <a:ea typeface="Source Sans Pro"/>
                <a:cs typeface="Source Sans Pro"/>
                <a:sym typeface="Source Sans Pro"/>
              </a:rPr>
              <a:t>5.2.1 General perspective</a:t>
            </a:r>
            <a:endParaRPr b="1">
              <a:solidFill>
                <a:schemeClr val="dk1"/>
              </a:solidFill>
              <a:latin typeface="Source Sans Pro"/>
              <a:ea typeface="Source Sans Pro"/>
              <a:cs typeface="Source Sans Pro"/>
              <a:sym typeface="Source Sans Pro"/>
            </a:endParaRPr>
          </a:p>
        </p:txBody>
      </p:sp>
      <p:pic>
        <p:nvPicPr>
          <p:cNvPr id="219" name="Google Shape;219;p33"/>
          <p:cNvPicPr preferRelativeResize="0"/>
          <p:nvPr/>
        </p:nvPicPr>
        <p:blipFill>
          <a:blip r:embed="rId3">
            <a:alphaModFix/>
          </a:blip>
          <a:stretch>
            <a:fillRect/>
          </a:stretch>
        </p:blipFill>
        <p:spPr>
          <a:xfrm>
            <a:off x="888900" y="2458826"/>
            <a:ext cx="6242099" cy="9355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4"/>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25" name="Google Shape;225;p34"/>
          <p:cNvSpPr txBox="1"/>
          <p:nvPr/>
        </p:nvSpPr>
        <p:spPr>
          <a:xfrm>
            <a:off x="1538950" y="492850"/>
            <a:ext cx="7443300" cy="11961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1200"/>
              </a:spcBef>
              <a:spcAft>
                <a:spcPts val="0"/>
              </a:spcAft>
              <a:buNone/>
            </a:pPr>
            <a:r>
              <a:rPr b="1" lang="es">
                <a:solidFill>
                  <a:schemeClr val="dk1"/>
                </a:solidFill>
                <a:latin typeface="Source Sans Pro"/>
                <a:ea typeface="Source Sans Pro"/>
                <a:cs typeface="Source Sans Pro"/>
                <a:sym typeface="Source Sans Pro"/>
              </a:rPr>
              <a:t> 5.2.2</a:t>
            </a:r>
            <a:r>
              <a:rPr b="1" lang="es" sz="1200">
                <a:solidFill>
                  <a:schemeClr val="dk1"/>
                </a:solidFill>
                <a:latin typeface="Source Sans Pro"/>
                <a:ea typeface="Source Sans Pro"/>
                <a:cs typeface="Source Sans Pro"/>
                <a:sym typeface="Source Sans Pro"/>
              </a:rPr>
              <a:t> </a:t>
            </a:r>
            <a:r>
              <a:rPr b="1" lang="es">
                <a:solidFill>
                  <a:schemeClr val="dk1"/>
                </a:solidFill>
                <a:latin typeface="Source Sans Pro"/>
                <a:ea typeface="Source Sans Pro"/>
                <a:cs typeface="Source Sans Pro"/>
                <a:sym typeface="Source Sans Pro"/>
              </a:rPr>
              <a:t>More detailed information</a:t>
            </a:r>
            <a:endParaRPr b="1">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None/>
            </a:pPr>
            <a:r>
              <a:rPr lang="es" sz="1200">
                <a:solidFill>
                  <a:schemeClr val="dk1"/>
                </a:solidFill>
                <a:latin typeface="Source Sans Pro"/>
                <a:ea typeface="Source Sans Pro"/>
                <a:cs typeface="Source Sans Pro"/>
                <a:sym typeface="Source Sans Pro"/>
              </a:rPr>
              <a:t>The total score by role (sum of tasks, skills, and knowledge) allows us to estimate alignment. Higher values indicate greater fit with the OT field, both technically and functionally. The total by role is shown below, sorted in descending order:</a:t>
            </a:r>
            <a:endParaRPr sz="1200">
              <a:solidFill>
                <a:schemeClr val="dk1"/>
              </a:solidFill>
              <a:latin typeface="Source Sans Pro"/>
              <a:ea typeface="Source Sans Pro"/>
              <a:cs typeface="Source Sans Pro"/>
              <a:sym typeface="Source Sans Pro"/>
            </a:endParaRPr>
          </a:p>
        </p:txBody>
      </p:sp>
      <p:pic>
        <p:nvPicPr>
          <p:cNvPr id="226" name="Google Shape;226;p34"/>
          <p:cNvPicPr preferRelativeResize="0"/>
          <p:nvPr/>
        </p:nvPicPr>
        <p:blipFill>
          <a:blip r:embed="rId3">
            <a:alphaModFix/>
          </a:blip>
          <a:stretch>
            <a:fillRect/>
          </a:stretch>
        </p:blipFill>
        <p:spPr>
          <a:xfrm>
            <a:off x="2161425" y="1688950"/>
            <a:ext cx="4821159" cy="3149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5"/>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32" name="Google Shape;232;p35"/>
          <p:cNvSpPr txBox="1"/>
          <p:nvPr/>
        </p:nvSpPr>
        <p:spPr>
          <a:xfrm>
            <a:off x="1706650" y="541425"/>
            <a:ext cx="6159600" cy="400200"/>
          </a:xfrm>
          <a:prstGeom prst="rect">
            <a:avLst/>
          </a:prstGeom>
          <a:noFill/>
          <a:ln>
            <a:noFill/>
          </a:ln>
        </p:spPr>
        <p:txBody>
          <a:bodyPr anchorCtr="0" anchor="t" bIns="91425" lIns="91425" spcFirstLastPara="1" rIns="91425" wrap="square" tIns="91425">
            <a:spAutoFit/>
          </a:bodyPr>
          <a:lstStyle/>
          <a:p>
            <a:pPr indent="0" lvl="0" marL="1371600" rtl="0" algn="just">
              <a:lnSpc>
                <a:spcPct val="150000"/>
              </a:lnSpc>
              <a:spcBef>
                <a:spcPts val="1400"/>
              </a:spcBef>
              <a:spcAft>
                <a:spcPts val="400"/>
              </a:spcAft>
              <a:buNone/>
            </a:pPr>
            <a:r>
              <a:rPr b="1" lang="es">
                <a:solidFill>
                  <a:schemeClr val="dk1"/>
                </a:solidFill>
                <a:latin typeface="Source Sans Pro"/>
                <a:ea typeface="Source Sans Pro"/>
                <a:cs typeface="Source Sans Pro"/>
                <a:sym typeface="Source Sans Pro"/>
              </a:rPr>
              <a:t>5.2.3 Classification according to alignment</a:t>
            </a:r>
            <a:endParaRPr b="1">
              <a:solidFill>
                <a:schemeClr val="dk1"/>
              </a:solidFill>
              <a:latin typeface="Source Sans Pro"/>
              <a:ea typeface="Source Sans Pro"/>
              <a:cs typeface="Source Sans Pro"/>
              <a:sym typeface="Source Sans Pro"/>
            </a:endParaRPr>
          </a:p>
        </p:txBody>
      </p:sp>
      <p:sp>
        <p:nvSpPr>
          <p:cNvPr id="233" name="Google Shape;233;p35"/>
          <p:cNvSpPr txBox="1"/>
          <p:nvPr/>
        </p:nvSpPr>
        <p:spPr>
          <a:xfrm>
            <a:off x="458425" y="1011600"/>
            <a:ext cx="7902300" cy="10011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1200"/>
              </a:spcBef>
              <a:spcAft>
                <a:spcPts val="0"/>
              </a:spcAft>
              <a:buNone/>
            </a:pPr>
            <a:r>
              <a:rPr i="1" lang="es" sz="1500">
                <a:solidFill>
                  <a:srgbClr val="666666"/>
                </a:solidFill>
                <a:latin typeface="Source Sans Pro"/>
                <a:ea typeface="Source Sans Pro"/>
                <a:cs typeface="Source Sans Pro"/>
                <a:sym typeface="Source Sans Pro"/>
              </a:rPr>
              <a:t>Stronger Alignment: Technical and Practical Functions</a:t>
            </a:r>
            <a:endParaRPr i="1" sz="1500">
              <a:solidFill>
                <a:srgbClr val="666666"/>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None/>
            </a:pPr>
            <a:r>
              <a:rPr lang="es" sz="1200">
                <a:solidFill>
                  <a:schemeClr val="dk1"/>
                </a:solidFill>
                <a:latin typeface="Source Sans Pro"/>
                <a:ea typeface="Source Sans Pro"/>
                <a:cs typeface="Source Sans Pro"/>
                <a:sym typeface="Source Sans Pro"/>
              </a:rPr>
              <a:t>The highest match rates are found in profiles focused on those that require greater technical knowledge that can be put into practice in the classroom.</a:t>
            </a:r>
            <a:endParaRPr sz="1200">
              <a:solidFill>
                <a:schemeClr val="dk1"/>
              </a:solidFill>
              <a:latin typeface="Source Sans Pro"/>
              <a:ea typeface="Source Sans Pro"/>
              <a:cs typeface="Source Sans Pro"/>
              <a:sym typeface="Source Sans Pro"/>
            </a:endParaRPr>
          </a:p>
        </p:txBody>
      </p:sp>
      <p:pic>
        <p:nvPicPr>
          <p:cNvPr id="234" name="Google Shape;234;p35"/>
          <p:cNvPicPr preferRelativeResize="0"/>
          <p:nvPr/>
        </p:nvPicPr>
        <p:blipFill>
          <a:blip r:embed="rId3">
            <a:alphaModFix/>
          </a:blip>
          <a:stretch>
            <a:fillRect/>
          </a:stretch>
        </p:blipFill>
        <p:spPr>
          <a:xfrm>
            <a:off x="152400" y="2165100"/>
            <a:ext cx="8362950" cy="1152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40" name="Google Shape;240;p36"/>
          <p:cNvSpPr txBox="1"/>
          <p:nvPr/>
        </p:nvSpPr>
        <p:spPr>
          <a:xfrm>
            <a:off x="300100" y="882750"/>
            <a:ext cx="8972700" cy="1004400"/>
          </a:xfrm>
          <a:prstGeom prst="rect">
            <a:avLst/>
          </a:prstGeom>
          <a:noFill/>
          <a:ln>
            <a:noFill/>
          </a:ln>
        </p:spPr>
        <p:txBody>
          <a:bodyPr anchorCtr="0" anchor="t" bIns="91425" lIns="91425" spcFirstLastPara="1" rIns="91425" wrap="square" tIns="91425">
            <a:spAutoFit/>
          </a:bodyPr>
          <a:lstStyle/>
          <a:p>
            <a:pPr indent="0" lvl="0" marL="719999" marR="542850" rtl="0" algn="just">
              <a:lnSpc>
                <a:spcPct val="116363"/>
              </a:lnSpc>
              <a:spcBef>
                <a:spcPts val="3156"/>
              </a:spcBef>
              <a:spcAft>
                <a:spcPts val="0"/>
              </a:spcAft>
              <a:buNone/>
            </a:pPr>
            <a:r>
              <a:rPr i="1" lang="es" sz="1500">
                <a:solidFill>
                  <a:srgbClr val="666666"/>
                </a:solidFill>
                <a:latin typeface="Source Sans Pro"/>
                <a:ea typeface="Source Sans Pro"/>
                <a:cs typeface="Source Sans Pro"/>
                <a:sym typeface="Source Sans Pro"/>
              </a:rPr>
              <a:t>Moderate alignment: strategic and governance-oriented profiles</a:t>
            </a:r>
            <a:endParaRPr b="1"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Clr>
                <a:schemeClr val="dk1"/>
              </a:buClr>
              <a:buSzPts val="1100"/>
              <a:buFont typeface="Arial"/>
              <a:buNone/>
            </a:pPr>
            <a:r>
              <a:rPr lang="es" sz="1200">
                <a:solidFill>
                  <a:schemeClr val="dk1"/>
                </a:solidFill>
                <a:latin typeface="Source Sans Pro"/>
                <a:ea typeface="Source Sans Pro"/>
                <a:cs typeface="Source Sans Pro"/>
                <a:sym typeface="Source Sans Pro"/>
              </a:rPr>
              <a:t>Several profiles show moderate levels of alignment; these profiles have been able to be addressed in detail in the classroom, but are more difficult to address in simulated environments like those used in the classroom.</a:t>
            </a:r>
            <a:endParaRPr sz="1200">
              <a:solidFill>
                <a:schemeClr val="dk1"/>
              </a:solidFill>
              <a:latin typeface="Source Sans Pro"/>
              <a:ea typeface="Source Sans Pro"/>
              <a:cs typeface="Source Sans Pro"/>
              <a:sym typeface="Source Sans Pro"/>
            </a:endParaRPr>
          </a:p>
        </p:txBody>
      </p:sp>
      <p:sp>
        <p:nvSpPr>
          <p:cNvPr id="241" name="Google Shape;241;p36"/>
          <p:cNvSpPr txBox="1"/>
          <p:nvPr/>
        </p:nvSpPr>
        <p:spPr>
          <a:xfrm>
            <a:off x="1706650" y="541425"/>
            <a:ext cx="6159600" cy="400200"/>
          </a:xfrm>
          <a:prstGeom prst="rect">
            <a:avLst/>
          </a:prstGeom>
          <a:noFill/>
          <a:ln>
            <a:noFill/>
          </a:ln>
        </p:spPr>
        <p:txBody>
          <a:bodyPr anchorCtr="0" anchor="t" bIns="91425" lIns="91425" spcFirstLastPara="1" rIns="91425" wrap="square" tIns="91425">
            <a:spAutoFit/>
          </a:bodyPr>
          <a:lstStyle/>
          <a:p>
            <a:pPr indent="0" lvl="0" marL="1371600" rtl="0" algn="just">
              <a:lnSpc>
                <a:spcPct val="150000"/>
              </a:lnSpc>
              <a:spcBef>
                <a:spcPts val="1400"/>
              </a:spcBef>
              <a:spcAft>
                <a:spcPts val="400"/>
              </a:spcAft>
              <a:buNone/>
            </a:pPr>
            <a:r>
              <a:rPr b="1" lang="es">
                <a:solidFill>
                  <a:schemeClr val="dk1"/>
                </a:solidFill>
                <a:latin typeface="Source Sans Pro"/>
                <a:ea typeface="Source Sans Pro"/>
                <a:cs typeface="Source Sans Pro"/>
                <a:sym typeface="Source Sans Pro"/>
              </a:rPr>
              <a:t>5.2.3 Classification according to alignment</a:t>
            </a:r>
            <a:endParaRPr b="1">
              <a:solidFill>
                <a:schemeClr val="dk1"/>
              </a:solidFill>
              <a:latin typeface="Source Sans Pro"/>
              <a:ea typeface="Source Sans Pro"/>
              <a:cs typeface="Source Sans Pro"/>
              <a:sym typeface="Source Sans Pro"/>
            </a:endParaRPr>
          </a:p>
        </p:txBody>
      </p:sp>
      <p:pic>
        <p:nvPicPr>
          <p:cNvPr id="242" name="Google Shape;242;p36"/>
          <p:cNvPicPr preferRelativeResize="0"/>
          <p:nvPr/>
        </p:nvPicPr>
        <p:blipFill>
          <a:blip r:embed="rId3">
            <a:alphaModFix/>
          </a:blip>
          <a:stretch>
            <a:fillRect/>
          </a:stretch>
        </p:blipFill>
        <p:spPr>
          <a:xfrm>
            <a:off x="1258775" y="1968925"/>
            <a:ext cx="6324763" cy="248603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48" name="Google Shape;248;p37"/>
          <p:cNvSpPr txBox="1"/>
          <p:nvPr/>
        </p:nvSpPr>
        <p:spPr>
          <a:xfrm>
            <a:off x="443050" y="941625"/>
            <a:ext cx="8686800" cy="966600"/>
          </a:xfrm>
          <a:prstGeom prst="rect">
            <a:avLst/>
          </a:prstGeom>
          <a:noFill/>
          <a:ln>
            <a:noFill/>
          </a:ln>
        </p:spPr>
        <p:txBody>
          <a:bodyPr anchorCtr="0" anchor="t" bIns="91425" lIns="91425" spcFirstLastPara="1" rIns="91425" wrap="square" tIns="91425">
            <a:spAutoFit/>
          </a:bodyPr>
          <a:lstStyle/>
          <a:p>
            <a:pPr indent="0" lvl="0" marL="719999" marR="542850" rtl="0" algn="just">
              <a:spcBef>
                <a:spcPts val="3290"/>
              </a:spcBef>
              <a:spcAft>
                <a:spcPts val="0"/>
              </a:spcAft>
              <a:buNone/>
            </a:pPr>
            <a:r>
              <a:rPr i="1" lang="es" sz="1500">
                <a:solidFill>
                  <a:srgbClr val="666666"/>
                </a:solidFill>
                <a:latin typeface="Source Sans Pro"/>
                <a:ea typeface="Source Sans Pro"/>
                <a:cs typeface="Source Sans Pro"/>
                <a:sym typeface="Source Sans Pro"/>
              </a:rPr>
              <a:t>Bottom lineup: specialized or management profiles</a:t>
            </a:r>
            <a:endParaRPr b="1"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None/>
            </a:pPr>
            <a:r>
              <a:rPr lang="es" sz="1200">
                <a:solidFill>
                  <a:schemeClr val="dk1"/>
                </a:solidFill>
                <a:latin typeface="Source Sans Pro"/>
                <a:ea typeface="Source Sans Pro"/>
                <a:cs typeface="Source Sans Pro"/>
                <a:sym typeface="Source Sans Pro"/>
              </a:rPr>
              <a:t>As expected, the more specific profiles, those with a greater management component or those related to strategic outreach, have a lower level of alignment.</a:t>
            </a:r>
            <a:endParaRPr/>
          </a:p>
        </p:txBody>
      </p:sp>
      <p:sp>
        <p:nvSpPr>
          <p:cNvPr id="249" name="Google Shape;249;p37"/>
          <p:cNvSpPr txBox="1"/>
          <p:nvPr/>
        </p:nvSpPr>
        <p:spPr>
          <a:xfrm>
            <a:off x="1706650" y="541425"/>
            <a:ext cx="6159600" cy="400200"/>
          </a:xfrm>
          <a:prstGeom prst="rect">
            <a:avLst/>
          </a:prstGeom>
          <a:noFill/>
          <a:ln>
            <a:noFill/>
          </a:ln>
        </p:spPr>
        <p:txBody>
          <a:bodyPr anchorCtr="0" anchor="t" bIns="91425" lIns="91425" spcFirstLastPara="1" rIns="91425" wrap="square" tIns="91425">
            <a:spAutoFit/>
          </a:bodyPr>
          <a:lstStyle/>
          <a:p>
            <a:pPr indent="0" lvl="0" marL="1371600" rtl="0" algn="just">
              <a:lnSpc>
                <a:spcPct val="150000"/>
              </a:lnSpc>
              <a:spcBef>
                <a:spcPts val="1400"/>
              </a:spcBef>
              <a:spcAft>
                <a:spcPts val="400"/>
              </a:spcAft>
              <a:buNone/>
            </a:pPr>
            <a:r>
              <a:rPr b="1" lang="es">
                <a:solidFill>
                  <a:schemeClr val="dk1"/>
                </a:solidFill>
                <a:latin typeface="Source Sans Pro"/>
                <a:ea typeface="Source Sans Pro"/>
                <a:cs typeface="Source Sans Pro"/>
                <a:sym typeface="Source Sans Pro"/>
              </a:rPr>
              <a:t>5.2.3 Classification according to alignment</a:t>
            </a:r>
            <a:endParaRPr b="1">
              <a:solidFill>
                <a:schemeClr val="dk1"/>
              </a:solidFill>
              <a:latin typeface="Source Sans Pro"/>
              <a:ea typeface="Source Sans Pro"/>
              <a:cs typeface="Source Sans Pro"/>
              <a:sym typeface="Source Sans Pro"/>
            </a:endParaRPr>
          </a:p>
        </p:txBody>
      </p:sp>
      <p:pic>
        <p:nvPicPr>
          <p:cNvPr id="250" name="Google Shape;250;p37"/>
          <p:cNvPicPr preferRelativeResize="0"/>
          <p:nvPr/>
        </p:nvPicPr>
        <p:blipFill>
          <a:blip r:embed="rId3">
            <a:alphaModFix/>
          </a:blip>
          <a:stretch>
            <a:fillRect/>
          </a:stretch>
        </p:blipFill>
        <p:spPr>
          <a:xfrm>
            <a:off x="152400" y="2060625"/>
            <a:ext cx="8401050" cy="904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56" name="Google Shape;256;p38"/>
          <p:cNvSpPr txBox="1"/>
          <p:nvPr/>
        </p:nvSpPr>
        <p:spPr>
          <a:xfrm>
            <a:off x="228600" y="786675"/>
            <a:ext cx="8686800" cy="4165200"/>
          </a:xfrm>
          <a:prstGeom prst="rect">
            <a:avLst/>
          </a:prstGeom>
          <a:noFill/>
          <a:ln>
            <a:noFill/>
          </a:ln>
        </p:spPr>
        <p:txBody>
          <a:bodyPr anchorCtr="0" anchor="t" bIns="91425" lIns="91425" spcFirstLastPara="1" rIns="91425" wrap="square" tIns="91425">
            <a:spAutoFit/>
          </a:bodyPr>
          <a:lstStyle/>
          <a:p>
            <a:pPr indent="0" lvl="0" marL="914400" rtl="0" algn="just">
              <a:lnSpc>
                <a:spcPct val="150000"/>
              </a:lnSpc>
              <a:spcBef>
                <a:spcPts val="1400"/>
              </a:spcBef>
              <a:spcAft>
                <a:spcPts val="0"/>
              </a:spcAft>
              <a:buNone/>
            </a:pPr>
            <a:r>
              <a:rPr b="1" lang="es">
                <a:solidFill>
                  <a:schemeClr val="dk1"/>
                </a:solidFill>
                <a:latin typeface="Source Sans Pro"/>
                <a:ea typeface="Source Sans Pro"/>
                <a:cs typeface="Source Sans Pro"/>
                <a:sym typeface="Source Sans Pro"/>
              </a:rPr>
              <a:t>5.2.4 Conclusions</a:t>
            </a:r>
            <a:endParaRPr b="1">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Clr>
                <a:schemeClr val="dk1"/>
              </a:buClr>
              <a:buSzPts val="1100"/>
              <a:buFont typeface="Arial"/>
              <a:buNone/>
            </a:pPr>
            <a:r>
              <a:rPr lang="es" sz="1200">
                <a:solidFill>
                  <a:schemeClr val="dk1"/>
                </a:solidFill>
                <a:latin typeface="Source Sans Pro"/>
                <a:ea typeface="Source Sans Pro"/>
                <a:cs typeface="Source Sans Pro"/>
                <a:sym typeface="Source Sans Pro"/>
              </a:rPr>
              <a:t>The data show that the Decree covers more than 50% of the details of the profiles defined by the ECSF in general. In detail, three profiles are strongly aligned (70% or more), seven are moderately aligned (45% or more), and two are weakly aligned (less than 45%). Furthermore, of the 12 profiles, seven exceed 50% alignment, and three exceed 75%.</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Clr>
                <a:schemeClr val="dk1"/>
              </a:buClr>
              <a:buSzPts val="1100"/>
              <a:buFont typeface="Arial"/>
              <a:buNone/>
            </a:pPr>
            <a:r>
              <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Clr>
                <a:schemeClr val="dk1"/>
              </a:buClr>
              <a:buSzPts val="1100"/>
              <a:buFont typeface="Arial"/>
              <a:buNone/>
            </a:pPr>
            <a:r>
              <a:rPr lang="es" sz="1200">
                <a:solidFill>
                  <a:schemeClr val="dk1"/>
                </a:solidFill>
                <a:latin typeface="Source Sans Pro"/>
                <a:ea typeface="Source Sans Pro"/>
                <a:cs typeface="Source Sans Pro"/>
                <a:sym typeface="Source Sans Pro"/>
              </a:rPr>
              <a:t>Most of the roles analyzed show good alignment with OT requirements, especially those focused on technical implementation, security architecture, and incident response. Mixed profiles between technical and political management would fall somewhere in between, while profiles focused on education, policy, or forensic analysis have a more limited contribution, although relevant in specific contexts.</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Clr>
                <a:schemeClr val="dk1"/>
              </a:buClr>
              <a:buSzPts val="1100"/>
              <a:buFont typeface="Arial"/>
              <a:buNone/>
            </a:pPr>
            <a:r>
              <a:rPr lang="es" sz="1200">
                <a:solidFill>
                  <a:schemeClr val="dk1"/>
                </a:solidFill>
                <a:latin typeface="Source Sans Pro"/>
                <a:ea typeface="Source Sans Pro"/>
                <a:cs typeface="Source Sans Pro"/>
                <a:sym typeface="Source Sans Pro"/>
              </a:rPr>
              <a:t>This difference in IT values is logical given the different nature of the facilities. In the OT area, architecture, incident management, and risk management take priority, given that it's a production facility. Management and auditing are secondary.</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Clr>
                <a:schemeClr val="dk1"/>
              </a:buClr>
              <a:buSzPts val="1100"/>
              <a:buFont typeface="Arial"/>
              <a:buNone/>
            </a:pPr>
            <a:r>
              <a:rPr lang="es" sz="1200">
                <a:solidFill>
                  <a:schemeClr val="dk1"/>
                </a:solidFill>
                <a:latin typeface="Source Sans Pro"/>
                <a:ea typeface="Source Sans Pro"/>
                <a:cs typeface="Source Sans Pro"/>
                <a:sym typeface="Source Sans Pro"/>
              </a:rPr>
              <a:t>We believe that, for a full-length specialization course, the data demonstrates that the curriculum is highly tailored and aligned with key technical functions in European cybersecurity.</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1200"/>
              </a:spcAft>
              <a:buNone/>
            </a:pPr>
            <a:r>
              <a:t/>
            </a:r>
            <a:endParaRPr sz="1200">
              <a:solidFill>
                <a:schemeClr val="dk1"/>
              </a:solidFill>
              <a:latin typeface="Source Sans Pro"/>
              <a:ea typeface="Source Sans Pro"/>
              <a:cs typeface="Source Sans Pro"/>
              <a:sym typeface="Source Sans Pro"/>
            </a:endParaRPr>
          </a:p>
        </p:txBody>
      </p:sp>
      <p:sp>
        <p:nvSpPr>
          <p:cNvPr id="257" name="Google Shape;257;p3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317500" lvl="2" marL="1371600" rtl="0" algn="just">
              <a:lnSpc>
                <a:spcPct val="150000"/>
              </a:lnSpc>
              <a:spcBef>
                <a:spcPts val="1400"/>
              </a:spcBef>
              <a:spcAft>
                <a:spcPts val="400"/>
              </a:spcAft>
              <a:buClr>
                <a:schemeClr val="dk1"/>
              </a:buClr>
              <a:buSzPts val="1400"/>
              <a:buFont typeface="Source Sans Pro"/>
              <a:buAutoNum type="arabicPeriod"/>
            </a:pPr>
            <a:r>
              <a:rPr b="1" lang="es">
                <a:solidFill>
                  <a:schemeClr val="dk1"/>
                </a:solidFill>
                <a:latin typeface="Source Sans Pro"/>
                <a:ea typeface="Source Sans Pro"/>
                <a:cs typeface="Source Sans Pro"/>
                <a:sym typeface="Source Sans Pro"/>
              </a:rPr>
              <a:t>Conclusions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9"/>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63" name="Google Shape;263;p39"/>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a:t>
            </a:r>
            <a:r>
              <a:rPr b="1" lang="es" sz="2600" cap="small">
                <a:solidFill>
                  <a:schemeClr val="dk1"/>
                </a:solidFill>
                <a:latin typeface="Source Sans Pro"/>
                <a:ea typeface="Source Sans Pro"/>
                <a:cs typeface="Source Sans Pro"/>
                <a:sym typeface="Source Sans Pro"/>
              </a:rPr>
              <a:t>. </a:t>
            </a:r>
            <a:r>
              <a:rPr b="1" lang="es" sz="2600" cap="small">
                <a:solidFill>
                  <a:schemeClr val="dk1"/>
                </a:solidFill>
                <a:latin typeface="Source Sans Pro"/>
                <a:ea typeface="Source Sans Pro"/>
                <a:cs typeface="Source Sans Pro"/>
                <a:sym typeface="Source Sans Pro"/>
              </a:rPr>
              <a:t>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264" name="Google Shape;264;p39"/>
          <p:cNvSpPr txBox="1"/>
          <p:nvPr/>
        </p:nvSpPr>
        <p:spPr>
          <a:xfrm>
            <a:off x="634950"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chemeClr val="dk1"/>
                </a:solidFill>
              </a:rPr>
              <a:t>CHIEF </a:t>
            </a:r>
            <a:r>
              <a:rPr lang="es" sz="1100">
                <a:solidFill>
                  <a:srgbClr val="1F1F1F"/>
                </a:solidFill>
                <a:highlight>
                  <a:srgbClr val="FFFFFF"/>
                </a:highlight>
              </a:rPr>
              <a:t>INFORMATION SECURITY OFFICER (CISO)</a:t>
            </a:r>
            <a:endParaRPr sz="1100">
              <a:solidFill>
                <a:srgbClr val="FF0000"/>
              </a:solidFill>
            </a:endParaRPr>
          </a:p>
        </p:txBody>
      </p:sp>
      <p:pic>
        <p:nvPicPr>
          <p:cNvPr id="265" name="Google Shape;265;p39"/>
          <p:cNvPicPr preferRelativeResize="0"/>
          <p:nvPr/>
        </p:nvPicPr>
        <p:blipFill>
          <a:blip r:embed="rId3">
            <a:alphaModFix/>
          </a:blip>
          <a:stretch>
            <a:fillRect/>
          </a:stretch>
        </p:blipFill>
        <p:spPr>
          <a:xfrm>
            <a:off x="458625" y="2047675"/>
            <a:ext cx="7831962" cy="247790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71" name="Google Shape;271;p40"/>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272" name="Google Shape;272;p40"/>
          <p:cNvSpPr txBox="1"/>
          <p:nvPr/>
        </p:nvSpPr>
        <p:spPr>
          <a:xfrm>
            <a:off x="682050" y="1541275"/>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chemeClr val="dk1"/>
                </a:solidFill>
              </a:rPr>
              <a:t>CYBER INCIDENT RESPONDER </a:t>
            </a:r>
            <a:endParaRPr sz="1100">
              <a:solidFill>
                <a:srgbClr val="FF0000"/>
              </a:solidFill>
            </a:endParaRPr>
          </a:p>
        </p:txBody>
      </p:sp>
      <p:pic>
        <p:nvPicPr>
          <p:cNvPr id="273" name="Google Shape;273;p40"/>
          <p:cNvPicPr preferRelativeResize="0"/>
          <p:nvPr/>
        </p:nvPicPr>
        <p:blipFill>
          <a:blip r:embed="rId3">
            <a:alphaModFix/>
          </a:blip>
          <a:stretch>
            <a:fillRect/>
          </a:stretch>
        </p:blipFill>
        <p:spPr>
          <a:xfrm>
            <a:off x="566450" y="1976150"/>
            <a:ext cx="7616310" cy="247790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1"/>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79" name="Google Shape;279;p41"/>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280" name="Google Shape;280;p41"/>
          <p:cNvSpPr txBox="1"/>
          <p:nvPr/>
        </p:nvSpPr>
        <p:spPr>
          <a:xfrm>
            <a:off x="599650"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chemeClr val="dk1"/>
                </a:solidFill>
              </a:rPr>
              <a:t>CYBER LEGAL, POLICY &amp; COMPLIANCE OFFICER </a:t>
            </a:r>
            <a:r>
              <a:rPr b="1" lang="es" sz="1100">
                <a:solidFill>
                  <a:schemeClr val="dk1"/>
                </a:solidFill>
              </a:rPr>
              <a:t> </a:t>
            </a:r>
            <a:endParaRPr sz="1100">
              <a:solidFill>
                <a:srgbClr val="FF0000"/>
              </a:solidFill>
            </a:endParaRPr>
          </a:p>
        </p:txBody>
      </p:sp>
      <p:pic>
        <p:nvPicPr>
          <p:cNvPr id="281" name="Google Shape;281;p41"/>
          <p:cNvPicPr preferRelativeResize="0"/>
          <p:nvPr/>
        </p:nvPicPr>
        <p:blipFill>
          <a:blip r:embed="rId3">
            <a:alphaModFix/>
          </a:blip>
          <a:stretch>
            <a:fillRect/>
          </a:stretch>
        </p:blipFill>
        <p:spPr>
          <a:xfrm>
            <a:off x="499013" y="2047675"/>
            <a:ext cx="7751182" cy="247790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2"/>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87" name="Google Shape;287;p42"/>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288" name="Google Shape;288;p42"/>
          <p:cNvSpPr txBox="1"/>
          <p:nvPr/>
        </p:nvSpPr>
        <p:spPr>
          <a:xfrm>
            <a:off x="658500"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chemeClr val="dk1"/>
                </a:solidFill>
              </a:rPr>
              <a:t>CYBER THREAT INTELLIGENCE </a:t>
            </a:r>
            <a:r>
              <a:rPr b="1" lang="es" sz="1100">
                <a:solidFill>
                  <a:srgbClr val="1F1F1F"/>
                </a:solidFill>
                <a:highlight>
                  <a:srgbClr val="FFFFFF"/>
                </a:highlight>
              </a:rPr>
              <a:t>SPECIALIST</a:t>
            </a:r>
            <a:endParaRPr sz="1100">
              <a:solidFill>
                <a:srgbClr val="FF0000"/>
              </a:solidFill>
            </a:endParaRPr>
          </a:p>
        </p:txBody>
      </p:sp>
      <p:pic>
        <p:nvPicPr>
          <p:cNvPr id="289" name="Google Shape;289;p42"/>
          <p:cNvPicPr preferRelativeResize="0"/>
          <p:nvPr/>
        </p:nvPicPr>
        <p:blipFill>
          <a:blip r:embed="rId3">
            <a:alphaModFix/>
          </a:blip>
          <a:stretch>
            <a:fillRect/>
          </a:stretch>
        </p:blipFill>
        <p:spPr>
          <a:xfrm>
            <a:off x="578938" y="2047675"/>
            <a:ext cx="7591333" cy="247790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3"/>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295" name="Google Shape;295;p43"/>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296" name="Google Shape;296;p43"/>
          <p:cNvSpPr txBox="1"/>
          <p:nvPr/>
        </p:nvSpPr>
        <p:spPr>
          <a:xfrm>
            <a:off x="611425"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rgbClr val="1F1F1F"/>
                </a:solidFill>
                <a:highlight>
                  <a:srgbClr val="FFFFFF"/>
                </a:highlight>
              </a:rPr>
              <a:t>CYBERSECURITY </a:t>
            </a:r>
            <a:r>
              <a:rPr b="1" lang="es" sz="1100">
                <a:solidFill>
                  <a:schemeClr val="dk1"/>
                </a:solidFill>
              </a:rPr>
              <a:t>ARCHITECT</a:t>
            </a:r>
            <a:endParaRPr sz="1100">
              <a:solidFill>
                <a:srgbClr val="FF0000"/>
              </a:solidFill>
            </a:endParaRPr>
          </a:p>
        </p:txBody>
      </p:sp>
      <p:pic>
        <p:nvPicPr>
          <p:cNvPr id="297" name="Google Shape;297;p43"/>
          <p:cNvPicPr preferRelativeResize="0"/>
          <p:nvPr/>
        </p:nvPicPr>
        <p:blipFill>
          <a:blip r:embed="rId3">
            <a:alphaModFix/>
          </a:blip>
          <a:stretch>
            <a:fillRect/>
          </a:stretch>
        </p:blipFill>
        <p:spPr>
          <a:xfrm>
            <a:off x="611425" y="2047675"/>
            <a:ext cx="7774887" cy="247790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03" name="Google Shape;303;p44"/>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304" name="Google Shape;304;p44"/>
          <p:cNvSpPr txBox="1"/>
          <p:nvPr/>
        </p:nvSpPr>
        <p:spPr>
          <a:xfrm>
            <a:off x="599675"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rgbClr val="1F1F1F"/>
                </a:solidFill>
                <a:highlight>
                  <a:srgbClr val="FFFFFF"/>
                </a:highlight>
              </a:rPr>
              <a:t>CYBERSECURITY </a:t>
            </a:r>
            <a:r>
              <a:rPr b="1" lang="es" sz="1100">
                <a:solidFill>
                  <a:schemeClr val="dk1"/>
                </a:solidFill>
              </a:rPr>
              <a:t>AUDITOR</a:t>
            </a:r>
            <a:endParaRPr b="1" sz="1100">
              <a:solidFill>
                <a:srgbClr val="1F1F1F"/>
              </a:solidFill>
              <a:highlight>
                <a:srgbClr val="FFFFFF"/>
              </a:highlight>
            </a:endParaRPr>
          </a:p>
        </p:txBody>
      </p:sp>
      <p:pic>
        <p:nvPicPr>
          <p:cNvPr id="305" name="Google Shape;305;p44"/>
          <p:cNvPicPr preferRelativeResize="0"/>
          <p:nvPr/>
        </p:nvPicPr>
        <p:blipFill>
          <a:blip r:embed="rId3">
            <a:alphaModFix/>
          </a:blip>
          <a:stretch>
            <a:fillRect/>
          </a:stretch>
        </p:blipFill>
        <p:spPr>
          <a:xfrm>
            <a:off x="490188" y="2047675"/>
            <a:ext cx="7768819" cy="247790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5"/>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11" name="Google Shape;311;p45"/>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312" name="Google Shape;312;p45"/>
          <p:cNvSpPr txBox="1"/>
          <p:nvPr/>
        </p:nvSpPr>
        <p:spPr>
          <a:xfrm>
            <a:off x="870375"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rgbClr val="1F1F1F"/>
                </a:solidFill>
                <a:highlight>
                  <a:srgbClr val="FFFFFF"/>
                </a:highlight>
              </a:rPr>
              <a:t>CYBERSECURITY </a:t>
            </a:r>
            <a:r>
              <a:rPr b="1" lang="es" sz="1100">
                <a:solidFill>
                  <a:schemeClr val="dk1"/>
                </a:solidFill>
              </a:rPr>
              <a:t>EDUCATOR</a:t>
            </a:r>
            <a:endParaRPr b="1" sz="1100">
              <a:solidFill>
                <a:srgbClr val="1F1F1F"/>
              </a:solidFill>
              <a:highlight>
                <a:srgbClr val="FFFFFF"/>
              </a:highlight>
            </a:endParaRPr>
          </a:p>
        </p:txBody>
      </p:sp>
      <p:pic>
        <p:nvPicPr>
          <p:cNvPr id="313" name="Google Shape;313;p45"/>
          <p:cNvPicPr preferRelativeResize="0"/>
          <p:nvPr/>
        </p:nvPicPr>
        <p:blipFill>
          <a:blip r:embed="rId3">
            <a:alphaModFix/>
          </a:blip>
          <a:stretch>
            <a:fillRect/>
          </a:stretch>
        </p:blipFill>
        <p:spPr>
          <a:xfrm>
            <a:off x="788000" y="2047675"/>
            <a:ext cx="7408443" cy="247790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6"/>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19" name="Google Shape;319;p46"/>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320" name="Google Shape;320;p46"/>
          <p:cNvSpPr txBox="1"/>
          <p:nvPr/>
        </p:nvSpPr>
        <p:spPr>
          <a:xfrm>
            <a:off x="870375"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chemeClr val="dk1"/>
                </a:solidFill>
              </a:rPr>
              <a:t>CYBERSECURITY IMPLEMENTER </a:t>
            </a:r>
            <a:endParaRPr b="1" sz="1100">
              <a:solidFill>
                <a:srgbClr val="1F1F1F"/>
              </a:solidFill>
              <a:highlight>
                <a:srgbClr val="FFFFFF"/>
              </a:highlight>
            </a:endParaRPr>
          </a:p>
        </p:txBody>
      </p:sp>
      <p:pic>
        <p:nvPicPr>
          <p:cNvPr id="321" name="Google Shape;321;p46"/>
          <p:cNvPicPr preferRelativeResize="0"/>
          <p:nvPr/>
        </p:nvPicPr>
        <p:blipFill>
          <a:blip r:embed="rId3">
            <a:alphaModFix/>
          </a:blip>
          <a:stretch>
            <a:fillRect/>
          </a:stretch>
        </p:blipFill>
        <p:spPr>
          <a:xfrm>
            <a:off x="800688" y="2083438"/>
            <a:ext cx="7359665" cy="244214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7"/>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27" name="Google Shape;327;p47"/>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328" name="Google Shape;328;p47"/>
          <p:cNvSpPr txBox="1"/>
          <p:nvPr/>
        </p:nvSpPr>
        <p:spPr>
          <a:xfrm>
            <a:off x="870375"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chemeClr val="dk1"/>
                </a:solidFill>
              </a:rPr>
              <a:t>CYBERSECURITY </a:t>
            </a:r>
            <a:r>
              <a:rPr b="1" lang="es" sz="1100">
                <a:solidFill>
                  <a:srgbClr val="1F1F1F"/>
                </a:solidFill>
                <a:highlight>
                  <a:srgbClr val="FFFFFF"/>
                </a:highlight>
              </a:rPr>
              <a:t>RESEARCHER</a:t>
            </a:r>
            <a:endParaRPr b="1" sz="1100">
              <a:solidFill>
                <a:srgbClr val="1F1F1F"/>
              </a:solidFill>
              <a:highlight>
                <a:srgbClr val="FFFFFF"/>
              </a:highlight>
            </a:endParaRPr>
          </a:p>
        </p:txBody>
      </p:sp>
      <p:pic>
        <p:nvPicPr>
          <p:cNvPr id="329" name="Google Shape;329;p47"/>
          <p:cNvPicPr preferRelativeResize="0"/>
          <p:nvPr/>
        </p:nvPicPr>
        <p:blipFill>
          <a:blip r:embed="rId3">
            <a:alphaModFix/>
          </a:blip>
          <a:stretch>
            <a:fillRect/>
          </a:stretch>
        </p:blipFill>
        <p:spPr>
          <a:xfrm>
            <a:off x="870375" y="2083438"/>
            <a:ext cx="7559435" cy="244214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8"/>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35" name="Google Shape;335;p48"/>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336" name="Google Shape;336;p48"/>
          <p:cNvSpPr txBox="1"/>
          <p:nvPr/>
        </p:nvSpPr>
        <p:spPr>
          <a:xfrm>
            <a:off x="870375"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chemeClr val="dk1"/>
                </a:solidFill>
              </a:rPr>
              <a:t>CYBERSECURITY RISK </a:t>
            </a:r>
            <a:r>
              <a:rPr b="1" lang="es" sz="1100">
                <a:solidFill>
                  <a:srgbClr val="1F1F1F"/>
                </a:solidFill>
                <a:highlight>
                  <a:srgbClr val="FFFFFF"/>
                </a:highlight>
              </a:rPr>
              <a:t>MANAGER</a:t>
            </a:r>
            <a:endParaRPr b="1" sz="1100">
              <a:solidFill>
                <a:srgbClr val="1F1F1F"/>
              </a:solidFill>
              <a:highlight>
                <a:srgbClr val="FFFFFF"/>
              </a:highlight>
            </a:endParaRPr>
          </a:p>
        </p:txBody>
      </p:sp>
      <p:pic>
        <p:nvPicPr>
          <p:cNvPr id="337" name="Google Shape;337;p48"/>
          <p:cNvPicPr preferRelativeResize="0"/>
          <p:nvPr/>
        </p:nvPicPr>
        <p:blipFill>
          <a:blip r:embed="rId3">
            <a:alphaModFix/>
          </a:blip>
          <a:stretch>
            <a:fillRect/>
          </a:stretch>
        </p:blipFill>
        <p:spPr>
          <a:xfrm>
            <a:off x="682075" y="2083438"/>
            <a:ext cx="7638204" cy="244214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9"/>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43" name="Google Shape;343;p49"/>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344" name="Google Shape;344;p49"/>
          <p:cNvSpPr txBox="1"/>
          <p:nvPr/>
        </p:nvSpPr>
        <p:spPr>
          <a:xfrm>
            <a:off x="870375"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chemeClr val="dk1"/>
                </a:solidFill>
              </a:rPr>
              <a:t>DIGITAL FORENSICS </a:t>
            </a:r>
            <a:r>
              <a:rPr b="1" lang="es" sz="1100">
                <a:solidFill>
                  <a:srgbClr val="1F1F1F"/>
                </a:solidFill>
                <a:highlight>
                  <a:srgbClr val="FFFFFF"/>
                </a:highlight>
              </a:rPr>
              <a:t>INVESTIGATOR</a:t>
            </a:r>
            <a:endParaRPr b="1" sz="1100">
              <a:solidFill>
                <a:srgbClr val="1F1F1F"/>
              </a:solidFill>
              <a:highlight>
                <a:srgbClr val="FFFFFF"/>
              </a:highlight>
            </a:endParaRPr>
          </a:p>
        </p:txBody>
      </p:sp>
      <p:pic>
        <p:nvPicPr>
          <p:cNvPr id="345" name="Google Shape;345;p49"/>
          <p:cNvPicPr preferRelativeResize="0"/>
          <p:nvPr/>
        </p:nvPicPr>
        <p:blipFill>
          <a:blip r:embed="rId3">
            <a:alphaModFix/>
          </a:blip>
          <a:stretch>
            <a:fillRect/>
          </a:stretch>
        </p:blipFill>
        <p:spPr>
          <a:xfrm>
            <a:off x="693825" y="2083438"/>
            <a:ext cx="7485891" cy="244214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0"/>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51" name="Google Shape;351;p50"/>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352" name="Google Shape;352;p50"/>
          <p:cNvSpPr txBox="1"/>
          <p:nvPr/>
        </p:nvSpPr>
        <p:spPr>
          <a:xfrm>
            <a:off x="870375" y="1577038"/>
            <a:ext cx="5536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600"/>
              </a:spcAft>
              <a:buNone/>
            </a:pPr>
            <a:r>
              <a:rPr b="1" lang="es" sz="1100">
                <a:solidFill>
                  <a:schemeClr val="dk1"/>
                </a:solidFill>
              </a:rPr>
              <a:t>PENETRATION TESTER</a:t>
            </a:r>
            <a:endParaRPr b="1" sz="1100">
              <a:solidFill>
                <a:srgbClr val="1F1F1F"/>
              </a:solidFill>
              <a:highlight>
                <a:srgbClr val="FFFFFF"/>
              </a:highlight>
            </a:endParaRPr>
          </a:p>
        </p:txBody>
      </p:sp>
      <p:pic>
        <p:nvPicPr>
          <p:cNvPr id="353" name="Google Shape;353;p50"/>
          <p:cNvPicPr preferRelativeResize="0"/>
          <p:nvPr/>
        </p:nvPicPr>
        <p:blipFill>
          <a:blip r:embed="rId3">
            <a:alphaModFix/>
          </a:blip>
          <a:stretch>
            <a:fillRect/>
          </a:stretch>
        </p:blipFill>
        <p:spPr>
          <a:xfrm>
            <a:off x="823088" y="2083438"/>
            <a:ext cx="7497818" cy="244214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1"/>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59" name="Google Shape;359;p51"/>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360" name="Google Shape;360;p51"/>
          <p:cNvSpPr txBox="1"/>
          <p:nvPr/>
        </p:nvSpPr>
        <p:spPr>
          <a:xfrm>
            <a:off x="870375" y="1577038"/>
            <a:ext cx="5536500" cy="415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200"/>
              </a:spcAft>
              <a:buNone/>
            </a:pPr>
            <a:r>
              <a:rPr b="1" i="1" lang="es" sz="1500">
                <a:solidFill>
                  <a:srgbClr val="666666"/>
                </a:solidFill>
                <a:latin typeface="Georgia"/>
                <a:ea typeface="Georgia"/>
                <a:cs typeface="Georgia"/>
                <a:sym typeface="Georgia"/>
              </a:rPr>
              <a:t>Summary table</a:t>
            </a:r>
            <a:endParaRPr b="1" sz="1100">
              <a:solidFill>
                <a:srgbClr val="1F1F1F"/>
              </a:solidFill>
              <a:highlight>
                <a:srgbClr val="FFFFFF"/>
              </a:highlight>
            </a:endParaRPr>
          </a:p>
        </p:txBody>
      </p:sp>
      <p:pic>
        <p:nvPicPr>
          <p:cNvPr id="361" name="Google Shape;361;p51"/>
          <p:cNvPicPr preferRelativeResize="0"/>
          <p:nvPr/>
        </p:nvPicPr>
        <p:blipFill>
          <a:blip r:embed="rId3">
            <a:alphaModFix/>
          </a:blip>
          <a:stretch>
            <a:fillRect/>
          </a:stretch>
        </p:blipFill>
        <p:spPr>
          <a:xfrm>
            <a:off x="3135979" y="1008604"/>
            <a:ext cx="3359625" cy="3859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2"/>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67" name="Google Shape;367;p52"/>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368" name="Google Shape;368;p52"/>
          <p:cNvSpPr txBox="1"/>
          <p:nvPr/>
        </p:nvSpPr>
        <p:spPr>
          <a:xfrm>
            <a:off x="870375" y="1577038"/>
            <a:ext cx="5536500" cy="415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200"/>
              </a:spcAft>
              <a:buNone/>
            </a:pPr>
            <a:r>
              <a:rPr b="1" i="1" lang="es" sz="1500">
                <a:solidFill>
                  <a:srgbClr val="666666"/>
                </a:solidFill>
                <a:latin typeface="Georgia"/>
                <a:ea typeface="Georgia"/>
                <a:cs typeface="Georgia"/>
                <a:sym typeface="Georgia"/>
              </a:rPr>
              <a:t>Profiles (ECSF) % IT</a:t>
            </a:r>
            <a:endParaRPr b="1" sz="1100">
              <a:solidFill>
                <a:srgbClr val="1F1F1F"/>
              </a:solidFill>
              <a:highlight>
                <a:srgbClr val="FFFFFF"/>
              </a:highlight>
            </a:endParaRPr>
          </a:p>
        </p:txBody>
      </p:sp>
      <p:pic>
        <p:nvPicPr>
          <p:cNvPr id="369" name="Google Shape;369;p52"/>
          <p:cNvPicPr preferRelativeResize="0"/>
          <p:nvPr/>
        </p:nvPicPr>
        <p:blipFill>
          <a:blip r:embed="rId3">
            <a:alphaModFix/>
          </a:blip>
          <a:stretch>
            <a:fillRect/>
          </a:stretch>
        </p:blipFill>
        <p:spPr>
          <a:xfrm>
            <a:off x="3150275" y="1225403"/>
            <a:ext cx="5209000" cy="34860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3"/>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75" name="Google Shape;375;p53"/>
          <p:cNvSpPr txBox="1"/>
          <p:nvPr/>
        </p:nvSpPr>
        <p:spPr>
          <a:xfrm>
            <a:off x="0" y="506100"/>
            <a:ext cx="8749200" cy="9543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6. TABLES </a:t>
            </a:r>
            <a:r>
              <a:rPr b="1" lang="es" sz="2400" cap="small">
                <a:solidFill>
                  <a:schemeClr val="dk1"/>
                </a:solidFill>
                <a:latin typeface="Source Sans Pro"/>
                <a:ea typeface="Source Sans Pro"/>
                <a:cs typeface="Source Sans Pro"/>
                <a:sym typeface="Source Sans Pro"/>
              </a:rPr>
              <a:t>OF RELATIONSHIP BETWEEN PROFILES AND DECREES</a:t>
            </a:r>
            <a:endParaRPr/>
          </a:p>
        </p:txBody>
      </p:sp>
      <p:sp>
        <p:nvSpPr>
          <p:cNvPr id="376" name="Google Shape;376;p53"/>
          <p:cNvSpPr txBox="1"/>
          <p:nvPr/>
        </p:nvSpPr>
        <p:spPr>
          <a:xfrm>
            <a:off x="870375" y="1577038"/>
            <a:ext cx="5536500" cy="415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200"/>
              </a:spcAft>
              <a:buNone/>
            </a:pPr>
            <a:r>
              <a:rPr b="1" i="1" lang="es" sz="1500">
                <a:solidFill>
                  <a:srgbClr val="666666"/>
                </a:solidFill>
                <a:latin typeface="Georgia"/>
                <a:ea typeface="Georgia"/>
                <a:cs typeface="Georgia"/>
                <a:sym typeface="Georgia"/>
              </a:rPr>
              <a:t>Profiles (ECSF) % OT</a:t>
            </a:r>
            <a:endParaRPr b="1" sz="1100">
              <a:solidFill>
                <a:srgbClr val="1F1F1F"/>
              </a:solidFill>
              <a:highlight>
                <a:srgbClr val="FFFFFF"/>
              </a:highlight>
            </a:endParaRPr>
          </a:p>
        </p:txBody>
      </p:sp>
      <p:pic>
        <p:nvPicPr>
          <p:cNvPr id="377" name="Google Shape;377;p53"/>
          <p:cNvPicPr preferRelativeResize="0"/>
          <p:nvPr/>
        </p:nvPicPr>
        <p:blipFill>
          <a:blip r:embed="rId3">
            <a:alphaModFix/>
          </a:blip>
          <a:stretch>
            <a:fillRect/>
          </a:stretch>
        </p:blipFill>
        <p:spPr>
          <a:xfrm>
            <a:off x="3097950" y="1367427"/>
            <a:ext cx="5231700" cy="33440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4"/>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83" name="Google Shape;383;p54"/>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a:t>
            </a:r>
            <a:r>
              <a:rPr b="1" lang="es" sz="2600" cap="small">
                <a:solidFill>
                  <a:schemeClr val="dk1"/>
                </a:solidFill>
                <a:latin typeface="Source Sans Pro"/>
                <a:ea typeface="Source Sans Pro"/>
                <a:cs typeface="Source Sans Pro"/>
                <a:sym typeface="Source Sans Pro"/>
              </a:rPr>
              <a:t>. </a:t>
            </a:r>
            <a:r>
              <a:rPr b="1" lang="es" sz="2600" cap="small">
                <a:solidFill>
                  <a:schemeClr val="dk1"/>
                </a:solidFill>
                <a:latin typeface="Source Sans Pro"/>
                <a:ea typeface="Source Sans Pro"/>
                <a:cs typeface="Source Sans Pro"/>
                <a:sym typeface="Source Sans Pro"/>
              </a:rPr>
              <a:t>LITERATURE</a:t>
            </a:r>
            <a:endParaRPr/>
          </a:p>
        </p:txBody>
      </p:sp>
      <p:sp>
        <p:nvSpPr>
          <p:cNvPr id="384" name="Google Shape;384;p54"/>
          <p:cNvSpPr txBox="1"/>
          <p:nvPr/>
        </p:nvSpPr>
        <p:spPr>
          <a:xfrm>
            <a:off x="210150" y="956925"/>
            <a:ext cx="8239200" cy="40482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1200"/>
              </a:spcBef>
              <a:spcAft>
                <a:spcPts val="0"/>
              </a:spcAft>
              <a:buNone/>
            </a:pPr>
            <a:r>
              <a:rPr lang="es" sz="1200">
                <a:solidFill>
                  <a:schemeClr val="dk1"/>
                </a:solidFill>
                <a:latin typeface="Source Sans Pro"/>
                <a:ea typeface="Source Sans Pro"/>
                <a:cs typeface="Source Sans Pro"/>
                <a:sym typeface="Source Sans Pro"/>
              </a:rPr>
              <a:t>Enisa </a:t>
            </a:r>
            <a:r>
              <a:rPr b="1" i="1" lang="es" sz="1200">
                <a:solidFill>
                  <a:schemeClr val="dk1"/>
                </a:solidFill>
                <a:latin typeface="Source Sans Pro"/>
                <a:ea typeface="Source Sans Pro"/>
                <a:cs typeface="Source Sans Pro"/>
                <a:sym typeface="Source Sans Pro"/>
              </a:rPr>
              <a:t>: </a:t>
            </a:r>
            <a:r>
              <a:rPr lang="es" sz="1200" u="sng">
                <a:solidFill>
                  <a:srgbClr val="1155CC"/>
                </a:solidFill>
                <a:latin typeface="Source Sans Pro"/>
                <a:ea typeface="Source Sans Pro"/>
                <a:cs typeface="Source Sans Pro"/>
                <a:sym typeface="Source Sans Pro"/>
                <a:hlinkClick r:id="rId3">
                  <a:extLst>
                    <a:ext uri="{A12FA001-AC4F-418D-AE19-62706E023703}">
                      <ahyp:hlinkClr val="tx"/>
                    </a:ext>
                  </a:extLst>
                </a:hlinkClick>
              </a:rPr>
              <a:t>https://www.enisa.europa.eu/</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None/>
            </a:pPr>
            <a:r>
              <a:rPr lang="es" sz="1200">
                <a:solidFill>
                  <a:schemeClr val="dk1"/>
                </a:solidFill>
                <a:latin typeface="Source Sans Pro"/>
                <a:ea typeface="Source Sans Pro"/>
                <a:cs typeface="Source Sans Pro"/>
                <a:sym typeface="Source Sans Pro"/>
              </a:rPr>
              <a:t>The European Cybersecurity Competence Framework (ECSF)</a:t>
            </a:r>
            <a:endParaRPr sz="1200">
              <a:solidFill>
                <a:schemeClr val="dk1"/>
              </a:solidFill>
              <a:latin typeface="Source Sans Pro"/>
              <a:ea typeface="Source Sans Pro"/>
              <a:cs typeface="Source Sans Pro"/>
              <a:sym typeface="Source Sans Pro"/>
            </a:endParaRPr>
          </a:p>
          <a:p>
            <a:pPr indent="360045" lvl="0" marL="0" rtl="0" algn="l">
              <a:lnSpc>
                <a:spcPct val="150000"/>
              </a:lnSpc>
              <a:spcBef>
                <a:spcPts val="1200"/>
              </a:spcBef>
              <a:spcAft>
                <a:spcPts val="0"/>
              </a:spcAft>
              <a:buNone/>
            </a:pPr>
            <a:r>
              <a:rPr lang="es" sz="1200" u="sng">
                <a:solidFill>
                  <a:srgbClr val="1155CC"/>
                </a:solidFill>
                <a:latin typeface="Source Sans Pro"/>
                <a:ea typeface="Source Sans Pro"/>
                <a:cs typeface="Source Sans Pro"/>
                <a:sym typeface="Source Sans Pro"/>
                <a:hlinkClick r:id="rId4">
                  <a:extLst>
                    <a:ext uri="{A12FA001-AC4F-418D-AE19-62706E023703}">
                      <ahyp:hlinkClr val="tx"/>
                    </a:ext>
                  </a:extLst>
                </a:hlinkClick>
              </a:rPr>
              <a:t>https://www.enisa.europa.eu/publications/european-cybersecurity-skills-framework-ecsf</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None/>
            </a:pPr>
            <a:r>
              <a:rPr lang="es" sz="1200">
                <a:solidFill>
                  <a:schemeClr val="dk1"/>
                </a:solidFill>
                <a:latin typeface="Source Sans Pro"/>
                <a:ea typeface="Source Sans Pro"/>
                <a:cs typeface="Source Sans Pro"/>
                <a:sym typeface="Source Sans Pro"/>
              </a:rPr>
              <a:t>Basque Institute of Vocational Training Knowledge IVAC EEI</a:t>
            </a:r>
            <a:endParaRPr sz="1200">
              <a:solidFill>
                <a:schemeClr val="dk1"/>
              </a:solidFill>
              <a:latin typeface="Source Sans Pro"/>
              <a:ea typeface="Source Sans Pro"/>
              <a:cs typeface="Source Sans Pro"/>
              <a:sym typeface="Source Sans Pro"/>
            </a:endParaRPr>
          </a:p>
          <a:p>
            <a:pPr indent="360045" lvl="0" marL="0" rtl="0" algn="l">
              <a:lnSpc>
                <a:spcPct val="150000"/>
              </a:lnSpc>
              <a:spcBef>
                <a:spcPts val="1200"/>
              </a:spcBef>
              <a:spcAft>
                <a:spcPts val="0"/>
              </a:spcAft>
              <a:buNone/>
            </a:pPr>
            <a:r>
              <a:rPr lang="es" sz="1200" u="sng">
                <a:solidFill>
                  <a:srgbClr val="1155CC"/>
                </a:solidFill>
                <a:latin typeface="Source Sans Pro"/>
                <a:ea typeface="Source Sans Pro"/>
                <a:cs typeface="Source Sans Pro"/>
                <a:sym typeface="Source Sans Pro"/>
                <a:hlinkClick r:id="rId5">
                  <a:extLst>
                    <a:ext uri="{A12FA001-AC4F-418D-AE19-62706E023703}">
                      <ahyp:hlinkClr val="tx"/>
                    </a:ext>
                  </a:extLst>
                </a:hlinkClick>
              </a:rPr>
              <a:t>https://ivac-eei.eus/es/</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None/>
            </a:pPr>
            <a:r>
              <a:rPr lang="es" sz="1200">
                <a:solidFill>
                  <a:schemeClr val="dk1"/>
                </a:solidFill>
                <a:latin typeface="Source Sans Pro"/>
                <a:ea typeface="Source Sans Pro"/>
                <a:cs typeface="Source Sans Pro"/>
                <a:sym typeface="Source Sans Pro"/>
              </a:rPr>
              <a:t>COURSE IN CYBERSECURITY IN INFORMATION TECHNOLOGY ENVIRONMENTS</a:t>
            </a:r>
            <a:endParaRPr sz="1200">
              <a:solidFill>
                <a:schemeClr val="dk1"/>
              </a:solidFill>
              <a:latin typeface="Source Sans Pro"/>
              <a:ea typeface="Source Sans Pro"/>
              <a:cs typeface="Source Sans Pro"/>
              <a:sym typeface="Source Sans Pro"/>
            </a:endParaRPr>
          </a:p>
          <a:p>
            <a:pPr indent="360045" lvl="0" marL="0" rtl="0" algn="just">
              <a:lnSpc>
                <a:spcPct val="150000"/>
              </a:lnSpc>
              <a:spcBef>
                <a:spcPts val="1200"/>
              </a:spcBef>
              <a:spcAft>
                <a:spcPts val="0"/>
              </a:spcAft>
              <a:buNone/>
            </a:pPr>
            <a:r>
              <a:rPr lang="es" sz="1200" u="sng">
                <a:solidFill>
                  <a:srgbClr val="1155CC"/>
                </a:solidFill>
                <a:latin typeface="Source Sans Pro"/>
                <a:ea typeface="Source Sans Pro"/>
                <a:cs typeface="Source Sans Pro"/>
                <a:sym typeface="Source Sans Pro"/>
                <a:hlinkClick r:id="rId6">
                  <a:extLst>
                    <a:ext uri="{A12FA001-AC4F-418D-AE19-62706E023703}">
                      <ahyp:hlinkClr val="tx"/>
                    </a:ext>
                  </a:extLst>
                </a:hlinkClick>
              </a:rPr>
              <a:t>https://ivac-eei.eus/es/familias-profesionales/informatica-y-comunicaciones-ifc/especializaciones/curso-de-especializacion-en-ciberseguridad-en-entornos-de-las-tecnologias-de-la-informacion.html</a:t>
            </a:r>
            <a:endParaRPr sz="1200">
              <a:solidFill>
                <a:schemeClr val="dk1"/>
              </a:solidFill>
              <a:latin typeface="Source Sans Pro"/>
              <a:ea typeface="Source Sans Pro"/>
              <a:cs typeface="Source Sans Pro"/>
              <a:sym typeface="Source Sans Pro"/>
            </a:endParaRPr>
          </a:p>
          <a:p>
            <a:pPr indent="457200" lvl="0" marL="0" rtl="0" algn="just">
              <a:lnSpc>
                <a:spcPct val="115000"/>
              </a:lnSpc>
              <a:spcBef>
                <a:spcPts val="1200"/>
              </a:spcBef>
              <a:spcAft>
                <a:spcPts val="0"/>
              </a:spcAft>
              <a:buNone/>
            </a:pPr>
            <a:r>
              <a:rPr lang="es" sz="1200">
                <a:solidFill>
                  <a:schemeClr val="dk1"/>
                </a:solidFill>
                <a:latin typeface="Source Sans Pro"/>
                <a:ea typeface="Source Sans Pro"/>
                <a:cs typeface="Source Sans Pro"/>
                <a:sym typeface="Source Sans Pro"/>
              </a:rPr>
              <a:t>COURSE IN CYBERSECURITY IN OPERATIONAL TECHNOLOGY ENVIRONMENTS</a:t>
            </a:r>
            <a:endParaRPr sz="1200">
              <a:solidFill>
                <a:schemeClr val="dk1"/>
              </a:solidFill>
              <a:latin typeface="Source Sans Pro"/>
              <a:ea typeface="Source Sans Pro"/>
              <a:cs typeface="Source Sans Pro"/>
              <a:sym typeface="Source Sans Pro"/>
            </a:endParaRPr>
          </a:p>
          <a:p>
            <a:pPr indent="360045" lvl="0" marL="0" rtl="0" algn="just">
              <a:lnSpc>
                <a:spcPct val="150000"/>
              </a:lnSpc>
              <a:spcBef>
                <a:spcPts val="1200"/>
              </a:spcBef>
              <a:spcAft>
                <a:spcPts val="1000"/>
              </a:spcAft>
              <a:buNone/>
            </a:pPr>
            <a:r>
              <a:rPr lang="es" sz="1200" u="sng">
                <a:solidFill>
                  <a:srgbClr val="1155CC"/>
                </a:solidFill>
                <a:latin typeface="Source Sans Pro"/>
                <a:ea typeface="Source Sans Pro"/>
                <a:cs typeface="Source Sans Pro"/>
                <a:sym typeface="Source Sans Pro"/>
                <a:hlinkClick r:id="rId7">
                  <a:extLst>
                    <a:ext uri="{A12FA001-AC4F-418D-AE19-62706E023703}">
                      <ahyp:hlinkClr val="tx"/>
                    </a:ext>
                  </a:extLst>
                </a:hlinkClick>
              </a:rPr>
              <a:t>https://ivac-eei.eus/es/familias-profesionales/electricidad-y-electronica-ele/especializaciones/curso-de-especializacion-en-ciberseguridad-en-entornos-de-las-tecnologias-de-operacion.html</a:t>
            </a:r>
            <a:endParaRPr sz="1200">
              <a:solidFill>
                <a:schemeClr val="dk1"/>
              </a:solidFill>
              <a:latin typeface="Source Sans Pro"/>
              <a:ea typeface="Source Sans Pro"/>
              <a:cs typeface="Source Sans Pro"/>
              <a:sym typeface="Source Sans Pr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5"/>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90" name="Google Shape;390;p55"/>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391" name="Google Shape;391;p55"/>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392" name="Google Shape;392;p55"/>
          <p:cNvSpPr txBox="1"/>
          <p:nvPr/>
        </p:nvSpPr>
        <p:spPr>
          <a:xfrm>
            <a:off x="553800" y="1025263"/>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200">
                <a:solidFill>
                  <a:srgbClr val="222222"/>
                </a:solidFill>
                <a:latin typeface="Roboto"/>
                <a:ea typeface="Roboto"/>
                <a:cs typeface="Roboto"/>
                <a:sym typeface="Roboto"/>
              </a:rPr>
              <a:t>1-Chief Information </a:t>
            </a:r>
            <a:r>
              <a:rPr b="1" lang="es" sz="1200">
                <a:solidFill>
                  <a:srgbClr val="222222"/>
                </a:solidFill>
                <a:latin typeface="Roboto"/>
                <a:ea typeface="Roboto"/>
                <a:cs typeface="Roboto"/>
                <a:sym typeface="Roboto"/>
              </a:rPr>
              <a:t>Security Officer</a:t>
            </a:r>
            <a:endParaRPr b="1" sz="1200">
              <a:solidFill>
                <a:srgbClr val="222222"/>
              </a:solidFill>
              <a:latin typeface="Roboto"/>
              <a:ea typeface="Roboto"/>
              <a:cs typeface="Roboto"/>
              <a:sym typeface="Roboto"/>
            </a:endParaRPr>
          </a:p>
        </p:txBody>
      </p:sp>
      <p:pic>
        <p:nvPicPr>
          <p:cNvPr id="393" name="Google Shape;393;p55"/>
          <p:cNvPicPr preferRelativeResize="0"/>
          <p:nvPr/>
        </p:nvPicPr>
        <p:blipFill>
          <a:blip r:embed="rId3">
            <a:alphaModFix/>
          </a:blip>
          <a:stretch>
            <a:fillRect/>
          </a:stretch>
        </p:blipFill>
        <p:spPr>
          <a:xfrm>
            <a:off x="553800" y="1452575"/>
            <a:ext cx="7846099" cy="34419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6"/>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399" name="Google Shape;399;p56"/>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00" name="Google Shape;400;p56"/>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01" name="Google Shape;401;p56"/>
          <p:cNvSpPr txBox="1"/>
          <p:nvPr/>
        </p:nvSpPr>
        <p:spPr>
          <a:xfrm>
            <a:off x="553800" y="1025263"/>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200">
                <a:solidFill>
                  <a:schemeClr val="dk1"/>
                </a:solidFill>
                <a:latin typeface="Roboto"/>
                <a:ea typeface="Roboto"/>
                <a:cs typeface="Roboto"/>
                <a:sym typeface="Roboto"/>
              </a:rPr>
              <a:t>2- Cyber Incident Responder</a:t>
            </a:r>
            <a:endParaRPr sz="1200">
              <a:solidFill>
                <a:srgbClr val="222222"/>
              </a:solidFill>
              <a:latin typeface="Roboto"/>
              <a:ea typeface="Roboto"/>
              <a:cs typeface="Roboto"/>
              <a:sym typeface="Roboto"/>
            </a:endParaRPr>
          </a:p>
        </p:txBody>
      </p:sp>
      <p:pic>
        <p:nvPicPr>
          <p:cNvPr id="402" name="Google Shape;402;p56"/>
          <p:cNvPicPr preferRelativeResize="0"/>
          <p:nvPr/>
        </p:nvPicPr>
        <p:blipFill>
          <a:blip r:embed="rId3">
            <a:alphaModFix/>
          </a:blip>
          <a:stretch>
            <a:fillRect/>
          </a:stretch>
        </p:blipFill>
        <p:spPr>
          <a:xfrm>
            <a:off x="476500" y="1529325"/>
            <a:ext cx="7892849" cy="3306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7"/>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08" name="Google Shape;408;p57"/>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09" name="Google Shape;409;p57"/>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10" name="Google Shape;410;p57"/>
          <p:cNvSpPr txBox="1"/>
          <p:nvPr/>
        </p:nvSpPr>
        <p:spPr>
          <a:xfrm>
            <a:off x="553800" y="1025263"/>
            <a:ext cx="30000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200">
                <a:solidFill>
                  <a:schemeClr val="dk1"/>
                </a:solidFill>
                <a:latin typeface="Roboto"/>
                <a:ea typeface="Roboto"/>
                <a:cs typeface="Roboto"/>
                <a:sym typeface="Roboto"/>
              </a:rPr>
              <a:t> 3-Cyber Legal, Policy &amp; Compliance Officer</a:t>
            </a:r>
            <a:endParaRPr sz="1200">
              <a:solidFill>
                <a:srgbClr val="222222"/>
              </a:solidFill>
              <a:latin typeface="Roboto"/>
              <a:ea typeface="Roboto"/>
              <a:cs typeface="Roboto"/>
              <a:sym typeface="Roboto"/>
            </a:endParaRPr>
          </a:p>
        </p:txBody>
      </p:sp>
      <p:pic>
        <p:nvPicPr>
          <p:cNvPr id="411" name="Google Shape;411;p57"/>
          <p:cNvPicPr preferRelativeResize="0"/>
          <p:nvPr/>
        </p:nvPicPr>
        <p:blipFill>
          <a:blip r:embed="rId3">
            <a:alphaModFix/>
          </a:blip>
          <a:stretch>
            <a:fillRect/>
          </a:stretch>
        </p:blipFill>
        <p:spPr>
          <a:xfrm>
            <a:off x="312950" y="1529325"/>
            <a:ext cx="7877349" cy="3210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8"/>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17" name="Google Shape;417;p58"/>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18" name="Google Shape;418;p58"/>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19" name="Google Shape;419;p58"/>
          <p:cNvSpPr txBox="1"/>
          <p:nvPr/>
        </p:nvSpPr>
        <p:spPr>
          <a:xfrm>
            <a:off x="553800" y="1025263"/>
            <a:ext cx="30000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200">
                <a:solidFill>
                  <a:schemeClr val="dk1"/>
                </a:solidFill>
                <a:latin typeface="Roboto"/>
                <a:ea typeface="Roboto"/>
                <a:cs typeface="Roboto"/>
                <a:sym typeface="Roboto"/>
              </a:rPr>
              <a:t> </a:t>
            </a:r>
            <a:r>
              <a:rPr b="1" lang="es" sz="1200">
                <a:solidFill>
                  <a:schemeClr val="dk1"/>
                </a:solidFill>
                <a:latin typeface="Roboto"/>
                <a:ea typeface="Roboto"/>
                <a:cs typeface="Roboto"/>
                <a:sym typeface="Roboto"/>
              </a:rPr>
              <a:t>4- </a:t>
            </a:r>
            <a:r>
              <a:rPr b="1" lang="es" sz="1200">
                <a:solidFill>
                  <a:schemeClr val="dk1"/>
                </a:solidFill>
                <a:latin typeface="Source Sans Pro"/>
                <a:ea typeface="Source Sans Pro"/>
                <a:cs typeface="Source Sans Pro"/>
                <a:sym typeface="Source Sans Pro"/>
              </a:rPr>
              <a:t>Cyber Threat Intelligence </a:t>
            </a:r>
            <a:endParaRPr b="1" sz="1200">
              <a:solidFill>
                <a:schemeClr val="dk1"/>
              </a:solidFill>
              <a:latin typeface="Source Sans Pro"/>
              <a:ea typeface="Source Sans Pro"/>
              <a:cs typeface="Source Sans Pro"/>
              <a:sym typeface="Source Sans Pro"/>
            </a:endParaRPr>
          </a:p>
          <a:p>
            <a:pPr indent="0" lvl="0" marL="0" rtl="0" algn="l">
              <a:lnSpc>
                <a:spcPct val="115000"/>
              </a:lnSpc>
              <a:spcBef>
                <a:spcPts val="0"/>
              </a:spcBef>
              <a:spcAft>
                <a:spcPts val="0"/>
              </a:spcAft>
              <a:buNone/>
            </a:pPr>
            <a:r>
              <a:rPr b="1" lang="es" sz="1200">
                <a:solidFill>
                  <a:schemeClr val="dk1"/>
                </a:solidFill>
                <a:latin typeface="Source Sans Pro"/>
                <a:ea typeface="Source Sans Pro"/>
                <a:cs typeface="Source Sans Pro"/>
                <a:sym typeface="Source Sans Pro"/>
              </a:rPr>
              <a:t>Specialist</a:t>
            </a:r>
            <a:endParaRPr b="1"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b="1" sz="1200">
              <a:solidFill>
                <a:schemeClr val="dk1"/>
              </a:solidFill>
              <a:latin typeface="Roboto"/>
              <a:ea typeface="Roboto"/>
              <a:cs typeface="Roboto"/>
              <a:sym typeface="Roboto"/>
            </a:endParaRPr>
          </a:p>
        </p:txBody>
      </p:sp>
      <p:pic>
        <p:nvPicPr>
          <p:cNvPr id="420" name="Google Shape;420;p58"/>
          <p:cNvPicPr preferRelativeResize="0"/>
          <p:nvPr/>
        </p:nvPicPr>
        <p:blipFill>
          <a:blip r:embed="rId3">
            <a:alphaModFix/>
          </a:blip>
          <a:stretch>
            <a:fillRect/>
          </a:stretch>
        </p:blipFill>
        <p:spPr>
          <a:xfrm>
            <a:off x="393225" y="1658650"/>
            <a:ext cx="7903451" cy="32130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9"/>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26" name="Google Shape;426;p59"/>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27" name="Google Shape;427;p59"/>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28" name="Google Shape;428;p59"/>
          <p:cNvSpPr txBox="1"/>
          <p:nvPr/>
        </p:nvSpPr>
        <p:spPr>
          <a:xfrm>
            <a:off x="553800" y="1025263"/>
            <a:ext cx="3000000" cy="73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 sz="1200">
                <a:solidFill>
                  <a:schemeClr val="dk1"/>
                </a:solidFill>
                <a:latin typeface="Roboto"/>
                <a:ea typeface="Roboto"/>
                <a:cs typeface="Roboto"/>
                <a:sym typeface="Roboto"/>
              </a:rPr>
              <a:t>5- </a:t>
            </a:r>
            <a:r>
              <a:rPr b="1" lang="es" sz="1200">
                <a:solidFill>
                  <a:schemeClr val="dk1"/>
                </a:solidFill>
                <a:latin typeface="Source Sans Pro"/>
                <a:ea typeface="Source Sans Pro"/>
                <a:cs typeface="Source Sans Pro"/>
                <a:sym typeface="Source Sans Pro"/>
              </a:rPr>
              <a:t>Cybersecurity Architect</a:t>
            </a:r>
            <a:endParaRPr b="1"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b="1" sz="1200">
              <a:solidFill>
                <a:schemeClr val="dk1"/>
              </a:solidFill>
              <a:latin typeface="Roboto"/>
              <a:ea typeface="Roboto"/>
              <a:cs typeface="Roboto"/>
              <a:sym typeface="Roboto"/>
            </a:endParaRPr>
          </a:p>
        </p:txBody>
      </p:sp>
      <p:pic>
        <p:nvPicPr>
          <p:cNvPr id="429" name="Google Shape;429;p59"/>
          <p:cNvPicPr preferRelativeResize="0"/>
          <p:nvPr/>
        </p:nvPicPr>
        <p:blipFill>
          <a:blip r:embed="rId3">
            <a:alphaModFix/>
          </a:blip>
          <a:stretch>
            <a:fillRect/>
          </a:stretch>
        </p:blipFill>
        <p:spPr>
          <a:xfrm>
            <a:off x="490725" y="1529325"/>
            <a:ext cx="7760074" cy="33194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0"/>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35" name="Google Shape;435;p60"/>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36" name="Google Shape;436;p60"/>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37" name="Google Shape;437;p60"/>
          <p:cNvSpPr txBox="1"/>
          <p:nvPr/>
        </p:nvSpPr>
        <p:spPr>
          <a:xfrm>
            <a:off x="485000" y="1025263"/>
            <a:ext cx="3000000" cy="73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 sz="1200">
                <a:solidFill>
                  <a:schemeClr val="dk1"/>
                </a:solidFill>
                <a:latin typeface="Roboto"/>
                <a:ea typeface="Roboto"/>
                <a:cs typeface="Roboto"/>
                <a:sym typeface="Roboto"/>
              </a:rPr>
              <a:t>6- </a:t>
            </a:r>
            <a:r>
              <a:rPr b="1" lang="es" sz="1200">
                <a:solidFill>
                  <a:schemeClr val="dk1"/>
                </a:solidFill>
                <a:latin typeface="Source Sans Pro"/>
                <a:ea typeface="Source Sans Pro"/>
                <a:cs typeface="Source Sans Pro"/>
                <a:sym typeface="Source Sans Pro"/>
              </a:rPr>
              <a:t>Cybersecurity Auditor </a:t>
            </a:r>
            <a:endParaRPr b="1"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b="1" sz="1200">
              <a:solidFill>
                <a:schemeClr val="dk1"/>
              </a:solidFill>
              <a:latin typeface="Roboto"/>
              <a:ea typeface="Roboto"/>
              <a:cs typeface="Roboto"/>
              <a:sym typeface="Roboto"/>
            </a:endParaRPr>
          </a:p>
        </p:txBody>
      </p:sp>
      <p:pic>
        <p:nvPicPr>
          <p:cNvPr id="438" name="Google Shape;438;p60"/>
          <p:cNvPicPr preferRelativeResize="0"/>
          <p:nvPr/>
        </p:nvPicPr>
        <p:blipFill>
          <a:blip r:embed="rId3">
            <a:alphaModFix/>
          </a:blip>
          <a:stretch>
            <a:fillRect/>
          </a:stretch>
        </p:blipFill>
        <p:spPr>
          <a:xfrm>
            <a:off x="485000" y="1578375"/>
            <a:ext cx="7662599" cy="31958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1"/>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44" name="Google Shape;444;p61"/>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45" name="Google Shape;445;p61"/>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46" name="Google Shape;446;p61"/>
          <p:cNvSpPr txBox="1"/>
          <p:nvPr/>
        </p:nvSpPr>
        <p:spPr>
          <a:xfrm>
            <a:off x="485000" y="1025263"/>
            <a:ext cx="3000000" cy="73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 sz="1200">
                <a:solidFill>
                  <a:schemeClr val="dk1"/>
                </a:solidFill>
                <a:latin typeface="Roboto"/>
                <a:ea typeface="Roboto"/>
                <a:cs typeface="Roboto"/>
                <a:sym typeface="Roboto"/>
              </a:rPr>
              <a:t>7- </a:t>
            </a:r>
            <a:r>
              <a:rPr b="1" lang="es" sz="1200">
                <a:solidFill>
                  <a:schemeClr val="dk1"/>
                </a:solidFill>
                <a:latin typeface="Source Sans Pro"/>
                <a:ea typeface="Source Sans Pro"/>
                <a:cs typeface="Source Sans Pro"/>
                <a:sym typeface="Source Sans Pro"/>
              </a:rPr>
              <a:t>Cybersecurity Educator</a:t>
            </a:r>
            <a:endParaRPr b="1"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b="1" sz="1200">
              <a:solidFill>
                <a:schemeClr val="dk1"/>
              </a:solidFill>
              <a:latin typeface="Roboto"/>
              <a:ea typeface="Roboto"/>
              <a:cs typeface="Roboto"/>
              <a:sym typeface="Roboto"/>
            </a:endParaRPr>
          </a:p>
        </p:txBody>
      </p:sp>
      <p:pic>
        <p:nvPicPr>
          <p:cNvPr id="447" name="Google Shape;447;p61"/>
          <p:cNvPicPr preferRelativeResize="0"/>
          <p:nvPr/>
        </p:nvPicPr>
        <p:blipFill>
          <a:blip r:embed="rId3">
            <a:alphaModFix/>
          </a:blip>
          <a:stretch>
            <a:fillRect/>
          </a:stretch>
        </p:blipFill>
        <p:spPr>
          <a:xfrm>
            <a:off x="548050" y="1529325"/>
            <a:ext cx="7588075" cy="32621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2"/>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53" name="Google Shape;453;p62"/>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54" name="Google Shape;454;p62"/>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55" name="Google Shape;455;p62"/>
          <p:cNvSpPr txBox="1"/>
          <p:nvPr/>
        </p:nvSpPr>
        <p:spPr>
          <a:xfrm>
            <a:off x="485000" y="1025263"/>
            <a:ext cx="3000000" cy="1102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 sz="1200">
                <a:solidFill>
                  <a:schemeClr val="dk1"/>
                </a:solidFill>
                <a:latin typeface="Roboto"/>
                <a:ea typeface="Roboto"/>
                <a:cs typeface="Roboto"/>
                <a:sym typeface="Roboto"/>
              </a:rPr>
              <a:t>8- </a:t>
            </a:r>
            <a:r>
              <a:rPr b="1" lang="es" sz="1200">
                <a:solidFill>
                  <a:schemeClr val="dk1"/>
                </a:solidFill>
                <a:latin typeface="Source Sans Pro"/>
                <a:ea typeface="Source Sans Pro"/>
                <a:cs typeface="Source Sans Pro"/>
                <a:sym typeface="Source Sans Pro"/>
              </a:rPr>
              <a:t>Cybersecurity Implementer</a:t>
            </a:r>
            <a:endParaRPr b="1"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b="1" sz="12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b="1" sz="1200">
              <a:solidFill>
                <a:schemeClr val="dk1"/>
              </a:solidFill>
              <a:latin typeface="Roboto"/>
              <a:ea typeface="Roboto"/>
              <a:cs typeface="Roboto"/>
              <a:sym typeface="Roboto"/>
            </a:endParaRPr>
          </a:p>
        </p:txBody>
      </p:sp>
      <p:pic>
        <p:nvPicPr>
          <p:cNvPr id="456" name="Google Shape;456;p62"/>
          <p:cNvPicPr preferRelativeResize="0"/>
          <p:nvPr/>
        </p:nvPicPr>
        <p:blipFill>
          <a:blip r:embed="rId3">
            <a:alphaModFix/>
          </a:blip>
          <a:stretch>
            <a:fillRect/>
          </a:stretch>
        </p:blipFill>
        <p:spPr>
          <a:xfrm>
            <a:off x="398975" y="1529325"/>
            <a:ext cx="7742901" cy="324606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3"/>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62" name="Google Shape;462;p63"/>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63" name="Google Shape;463;p63"/>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64" name="Google Shape;464;p63"/>
          <p:cNvSpPr txBox="1"/>
          <p:nvPr/>
        </p:nvSpPr>
        <p:spPr>
          <a:xfrm>
            <a:off x="485000" y="1025263"/>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 sz="1200">
                <a:solidFill>
                  <a:schemeClr val="dk1"/>
                </a:solidFill>
                <a:latin typeface="Roboto"/>
                <a:ea typeface="Roboto"/>
                <a:cs typeface="Roboto"/>
                <a:sym typeface="Roboto"/>
              </a:rPr>
              <a:t>9- </a:t>
            </a:r>
            <a:r>
              <a:rPr b="1" lang="es" sz="1200">
                <a:solidFill>
                  <a:schemeClr val="dk1"/>
                </a:solidFill>
                <a:latin typeface="Source Sans Pro"/>
                <a:ea typeface="Source Sans Pro"/>
                <a:cs typeface="Source Sans Pro"/>
                <a:sym typeface="Source Sans Pro"/>
              </a:rPr>
              <a:t>Cybersecurity Researcher</a:t>
            </a:r>
            <a:endParaRPr b="1" sz="1200">
              <a:solidFill>
                <a:schemeClr val="dk1"/>
              </a:solidFill>
              <a:latin typeface="Roboto"/>
              <a:ea typeface="Roboto"/>
              <a:cs typeface="Roboto"/>
              <a:sym typeface="Roboto"/>
            </a:endParaRPr>
          </a:p>
        </p:txBody>
      </p:sp>
      <p:pic>
        <p:nvPicPr>
          <p:cNvPr id="465" name="Google Shape;465;p63"/>
          <p:cNvPicPr preferRelativeResize="0"/>
          <p:nvPr/>
        </p:nvPicPr>
        <p:blipFill>
          <a:blip r:embed="rId3">
            <a:alphaModFix/>
          </a:blip>
          <a:stretch>
            <a:fillRect/>
          </a:stretch>
        </p:blipFill>
        <p:spPr>
          <a:xfrm>
            <a:off x="307225" y="1498225"/>
            <a:ext cx="8027975" cy="32473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4"/>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71" name="Google Shape;471;p64"/>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72" name="Google Shape;472;p64"/>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73" name="Google Shape;473;p64"/>
          <p:cNvSpPr txBox="1"/>
          <p:nvPr/>
        </p:nvSpPr>
        <p:spPr>
          <a:xfrm>
            <a:off x="485000" y="1025263"/>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 sz="1200">
                <a:solidFill>
                  <a:schemeClr val="dk1"/>
                </a:solidFill>
                <a:latin typeface="Roboto"/>
                <a:ea typeface="Roboto"/>
                <a:cs typeface="Roboto"/>
                <a:sym typeface="Roboto"/>
              </a:rPr>
              <a:t>10- </a:t>
            </a:r>
            <a:r>
              <a:rPr b="1" lang="es" sz="1200">
                <a:solidFill>
                  <a:schemeClr val="dk1"/>
                </a:solidFill>
                <a:latin typeface="Source Sans Pro"/>
                <a:ea typeface="Source Sans Pro"/>
                <a:cs typeface="Source Sans Pro"/>
                <a:sym typeface="Source Sans Pro"/>
              </a:rPr>
              <a:t>Cybersecurity Risk Manager</a:t>
            </a:r>
            <a:endParaRPr b="1" sz="1200">
              <a:solidFill>
                <a:schemeClr val="dk1"/>
              </a:solidFill>
              <a:latin typeface="Roboto"/>
              <a:ea typeface="Roboto"/>
              <a:cs typeface="Roboto"/>
              <a:sym typeface="Roboto"/>
            </a:endParaRPr>
          </a:p>
        </p:txBody>
      </p:sp>
      <p:pic>
        <p:nvPicPr>
          <p:cNvPr id="474" name="Google Shape;474;p64"/>
          <p:cNvPicPr preferRelativeResize="0"/>
          <p:nvPr/>
        </p:nvPicPr>
        <p:blipFill>
          <a:blip r:embed="rId3">
            <a:alphaModFix/>
          </a:blip>
          <a:stretch>
            <a:fillRect/>
          </a:stretch>
        </p:blipFill>
        <p:spPr>
          <a:xfrm>
            <a:off x="358825" y="1529325"/>
            <a:ext cx="7754375" cy="319902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5"/>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80" name="Google Shape;480;p65"/>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81" name="Google Shape;481;p65"/>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82" name="Google Shape;482;p65"/>
          <p:cNvSpPr txBox="1"/>
          <p:nvPr/>
        </p:nvSpPr>
        <p:spPr>
          <a:xfrm>
            <a:off x="485000" y="1025263"/>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 sz="1200">
                <a:solidFill>
                  <a:schemeClr val="dk1"/>
                </a:solidFill>
                <a:latin typeface="Roboto"/>
                <a:ea typeface="Roboto"/>
                <a:cs typeface="Roboto"/>
                <a:sym typeface="Roboto"/>
              </a:rPr>
              <a:t>11- </a:t>
            </a:r>
            <a:r>
              <a:rPr b="1" lang="es" sz="1200">
                <a:solidFill>
                  <a:schemeClr val="dk1"/>
                </a:solidFill>
                <a:latin typeface="Source Sans Pro"/>
                <a:ea typeface="Source Sans Pro"/>
                <a:cs typeface="Source Sans Pro"/>
                <a:sym typeface="Source Sans Pro"/>
              </a:rPr>
              <a:t>Digital Forensics Investigator</a:t>
            </a:r>
            <a:endParaRPr b="1" sz="1200">
              <a:solidFill>
                <a:schemeClr val="dk1"/>
              </a:solidFill>
              <a:latin typeface="Roboto"/>
              <a:ea typeface="Roboto"/>
              <a:cs typeface="Roboto"/>
              <a:sym typeface="Roboto"/>
            </a:endParaRPr>
          </a:p>
        </p:txBody>
      </p:sp>
      <p:pic>
        <p:nvPicPr>
          <p:cNvPr id="483" name="Google Shape;483;p65"/>
          <p:cNvPicPr preferRelativeResize="0"/>
          <p:nvPr/>
        </p:nvPicPr>
        <p:blipFill>
          <a:blip r:embed="rId3">
            <a:alphaModFix/>
          </a:blip>
          <a:stretch>
            <a:fillRect/>
          </a:stretch>
        </p:blipFill>
        <p:spPr>
          <a:xfrm>
            <a:off x="387500" y="1614350"/>
            <a:ext cx="7886251" cy="31598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6"/>
          <p:cNvSpPr txBox="1"/>
          <p:nvPr>
            <p:ph idx="12" type="sldNum"/>
          </p:nvPr>
        </p:nvSpPr>
        <p:spPr>
          <a:xfrm>
            <a:off x="6553207" y="4677984"/>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489" name="Google Shape;489;p66"/>
          <p:cNvSpPr txBox="1"/>
          <p:nvPr/>
        </p:nvSpPr>
        <p:spPr>
          <a:xfrm>
            <a:off x="0" y="506100"/>
            <a:ext cx="8749200" cy="585000"/>
          </a:xfrm>
          <a:prstGeom prst="rect">
            <a:avLst/>
          </a:prstGeom>
          <a:noFill/>
          <a:ln>
            <a:noFill/>
          </a:ln>
        </p:spPr>
        <p:txBody>
          <a:bodyPr anchorCtr="0" anchor="t" bIns="91425" lIns="91425" spcFirstLastPara="1" rIns="91425" wrap="square" tIns="91425">
            <a:spAutoFit/>
          </a:bodyPr>
          <a:lstStyle/>
          <a:p>
            <a:pPr indent="0" lvl="0" marL="457200" rtl="0" algn="just">
              <a:spcBef>
                <a:spcPts val="1800"/>
              </a:spcBef>
              <a:spcAft>
                <a:spcPts val="1000"/>
              </a:spcAft>
              <a:buNone/>
            </a:pPr>
            <a:r>
              <a:rPr b="1" lang="es" sz="2600" cap="small">
                <a:solidFill>
                  <a:schemeClr val="dk1"/>
                </a:solidFill>
                <a:latin typeface="Source Sans Pro"/>
                <a:ea typeface="Source Sans Pro"/>
                <a:cs typeface="Source Sans Pro"/>
                <a:sym typeface="Source Sans Pro"/>
              </a:rPr>
              <a:t>7. ANNEX 1 </a:t>
            </a:r>
            <a:r>
              <a:rPr b="1" i="1" lang="es" sz="2400" cap="small">
                <a:solidFill>
                  <a:schemeClr val="dk1"/>
                </a:solidFill>
                <a:latin typeface="Source Sans Pro"/>
                <a:ea typeface="Source Sans Pro"/>
                <a:cs typeface="Source Sans Pro"/>
                <a:sym typeface="Source Sans Pro"/>
              </a:rPr>
              <a:t>Complete list of profiles &amp; Decree</a:t>
            </a:r>
            <a:endParaRPr/>
          </a:p>
        </p:txBody>
      </p:sp>
      <p:sp>
        <p:nvSpPr>
          <p:cNvPr id="490" name="Google Shape;490;p66"/>
          <p:cNvSpPr txBox="1"/>
          <p:nvPr/>
        </p:nvSpPr>
        <p:spPr>
          <a:xfrm>
            <a:off x="3118775" y="947625"/>
            <a:ext cx="5940600" cy="58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sz="1200">
                <a:solidFill>
                  <a:srgbClr val="222222"/>
                </a:solidFill>
                <a:latin typeface="Roboto"/>
                <a:ea typeface="Roboto"/>
                <a:cs typeface="Roboto"/>
                <a:sym typeface="Roboto"/>
              </a:rPr>
              <a:t>The level of compliance (RATE) has been quantified in the decree of each "Detail" of the ECSF taking into account the following scale: 0% - 25% - 50% - 75% - 100 </a:t>
            </a:r>
            <a:r>
              <a:rPr lang="es" sz="1200">
                <a:solidFill>
                  <a:schemeClr val="dk1"/>
                </a:solidFill>
                <a:latin typeface="Source Sans Pro"/>
                <a:ea typeface="Source Sans Pro"/>
                <a:cs typeface="Source Sans Pro"/>
                <a:sym typeface="Source Sans Pro"/>
              </a:rPr>
              <a:t>%</a:t>
            </a:r>
            <a:endParaRPr b="1" sz="1050">
              <a:solidFill>
                <a:srgbClr val="222222"/>
              </a:solidFill>
              <a:highlight>
                <a:srgbClr val="E1E9F7"/>
              </a:highlight>
              <a:latin typeface="Roboto"/>
              <a:ea typeface="Roboto"/>
              <a:cs typeface="Roboto"/>
              <a:sym typeface="Roboto"/>
            </a:endParaRPr>
          </a:p>
        </p:txBody>
      </p:sp>
      <p:sp>
        <p:nvSpPr>
          <p:cNvPr id="491" name="Google Shape;491;p66"/>
          <p:cNvSpPr txBox="1"/>
          <p:nvPr/>
        </p:nvSpPr>
        <p:spPr>
          <a:xfrm>
            <a:off x="485000" y="1025263"/>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s" sz="1200">
                <a:solidFill>
                  <a:schemeClr val="dk1"/>
                </a:solidFill>
                <a:latin typeface="Roboto"/>
                <a:ea typeface="Roboto"/>
                <a:cs typeface="Roboto"/>
                <a:sym typeface="Roboto"/>
              </a:rPr>
              <a:t>12- </a:t>
            </a:r>
            <a:r>
              <a:rPr b="1" lang="es" sz="1200">
                <a:solidFill>
                  <a:schemeClr val="dk1"/>
                </a:solidFill>
                <a:latin typeface="Source Sans Pro"/>
                <a:ea typeface="Source Sans Pro"/>
                <a:cs typeface="Source Sans Pro"/>
                <a:sym typeface="Source Sans Pro"/>
              </a:rPr>
              <a:t>Penetration Test</a:t>
            </a:r>
            <a:endParaRPr b="1" sz="1200">
              <a:solidFill>
                <a:schemeClr val="dk1"/>
              </a:solidFill>
              <a:latin typeface="Roboto"/>
              <a:ea typeface="Roboto"/>
              <a:cs typeface="Roboto"/>
              <a:sym typeface="Roboto"/>
            </a:endParaRPr>
          </a:p>
        </p:txBody>
      </p:sp>
      <p:pic>
        <p:nvPicPr>
          <p:cNvPr id="492" name="Google Shape;492;p66"/>
          <p:cNvPicPr preferRelativeResize="0"/>
          <p:nvPr/>
        </p:nvPicPr>
        <p:blipFill>
          <a:blip r:embed="rId3">
            <a:alphaModFix/>
          </a:blip>
          <a:stretch>
            <a:fillRect/>
          </a:stretch>
        </p:blipFill>
        <p:spPr>
          <a:xfrm>
            <a:off x="370300" y="1529325"/>
            <a:ext cx="7788775" cy="32391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7"/>
          <p:cNvSpPr txBox="1"/>
          <p:nvPr/>
        </p:nvSpPr>
        <p:spPr>
          <a:xfrm>
            <a:off x="656056" y="3729830"/>
            <a:ext cx="78318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t/>
            </a:r>
            <a:endParaRPr sz="1100"/>
          </a:p>
        </p:txBody>
      </p:sp>
      <p:sp>
        <p:nvSpPr>
          <p:cNvPr id="499" name="Google Shape;499;p67"/>
          <p:cNvSpPr txBox="1"/>
          <p:nvPr>
            <p:ph idx="12" type="sldNum"/>
          </p:nvPr>
        </p:nvSpPr>
        <p:spPr>
          <a:xfrm>
            <a:off x="6555696" y="4674170"/>
            <a:ext cx="2133600" cy="2739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Font typeface="Arial"/>
              <a:buNone/>
            </a:pPr>
            <a:fld id="{00000000-1234-1234-1234-123412341234}" type="slidenum">
              <a:rPr lang="es"/>
              <a:t>‹#›</a:t>
            </a:fld>
            <a:endParaRPr/>
          </a:p>
        </p:txBody>
      </p:sp>
      <p:sp>
        <p:nvSpPr>
          <p:cNvPr id="500" name="Google Shape;500;p67"/>
          <p:cNvSpPr/>
          <p:nvPr/>
        </p:nvSpPr>
        <p:spPr>
          <a:xfrm>
            <a:off x="5544240" y="87474"/>
            <a:ext cx="972000" cy="5940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descr="D:\Descargas\UNEVOC_Network_Logo_blue_en.png" id="501" name="Google Shape;501;p67"/>
          <p:cNvPicPr preferRelativeResize="0"/>
          <p:nvPr/>
        </p:nvPicPr>
        <p:blipFill rotWithShape="1">
          <a:blip r:embed="rId3">
            <a:alphaModFix/>
          </a:blip>
          <a:srcRect b="0" l="0" r="0" t="0"/>
          <a:stretch/>
        </p:blipFill>
        <p:spPr>
          <a:xfrm>
            <a:off x="6048288" y="186092"/>
            <a:ext cx="414120" cy="313200"/>
          </a:xfrm>
          <a:prstGeom prst="rect">
            <a:avLst/>
          </a:prstGeom>
          <a:noFill/>
          <a:ln>
            <a:noFill/>
          </a:ln>
        </p:spPr>
      </p:pic>
      <p:pic>
        <p:nvPicPr>
          <p:cNvPr id="502" name="Google Shape;502;p67"/>
          <p:cNvPicPr preferRelativeResize="0"/>
          <p:nvPr/>
        </p:nvPicPr>
        <p:blipFill>
          <a:blip r:embed="rId4">
            <a:alphaModFix/>
          </a:blip>
          <a:stretch>
            <a:fillRect/>
          </a:stretch>
        </p:blipFill>
        <p:spPr>
          <a:xfrm>
            <a:off x="2079325" y="681475"/>
            <a:ext cx="5627991" cy="3246563"/>
          </a:xfrm>
          <a:prstGeom prst="rect">
            <a:avLst/>
          </a:prstGeom>
          <a:noFill/>
          <a:ln>
            <a:noFill/>
          </a:ln>
        </p:spPr>
      </p:pic>
      <p:sp>
        <p:nvSpPr>
          <p:cNvPr id="503" name="Google Shape;503;p67"/>
          <p:cNvSpPr txBox="1"/>
          <p:nvPr/>
        </p:nvSpPr>
        <p:spPr>
          <a:xfrm>
            <a:off x="471725" y="3940000"/>
            <a:ext cx="8445000" cy="1246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2300">
                <a:solidFill>
                  <a:schemeClr val="dk1"/>
                </a:solidFill>
                <a:latin typeface="Source Sans Pro"/>
                <a:ea typeface="Source Sans Pro"/>
                <a:cs typeface="Source Sans Pro"/>
                <a:sym typeface="Source Sans Pro"/>
              </a:rPr>
              <a:t>European Competencies and Contents of the IT/OT Cybersecurity Specialization Courses</a:t>
            </a:r>
            <a:endParaRPr b="1" sz="2600">
              <a:solidFill>
                <a:schemeClr val="dk1"/>
              </a:solidFill>
              <a:latin typeface="Source Sans Pro"/>
              <a:ea typeface="Source Sans Pro"/>
              <a:cs typeface="Source Sans Pro"/>
              <a:sym typeface="Source Sans Pro"/>
            </a:endParaRPr>
          </a:p>
          <a:p>
            <a:pPr indent="0" lvl="0" marL="0" rtl="0" algn="ctr">
              <a:spcBef>
                <a:spcPts val="0"/>
              </a:spcBef>
              <a:spcAft>
                <a:spcPts val="0"/>
              </a:spcAft>
              <a:buNone/>
            </a:pPr>
            <a:r>
              <a:t/>
            </a:r>
            <a:endParaRPr b="1" sz="2300">
              <a:solidFill>
                <a:schemeClr val="dk1"/>
              </a:solidFill>
              <a:latin typeface="Source Sans Pro"/>
              <a:ea typeface="Source Sans Pro"/>
              <a:cs typeface="Source Sans Pro"/>
              <a:sym typeface="Source Sans Pro"/>
            </a:endParaRPr>
          </a:p>
        </p:txBody>
      </p:sp>
      <p:pic>
        <p:nvPicPr>
          <p:cNvPr id="504" name="Google Shape;504;p67"/>
          <p:cNvPicPr preferRelativeResize="0"/>
          <p:nvPr/>
        </p:nvPicPr>
        <p:blipFill>
          <a:blip r:embed="rId5">
            <a:alphaModFix/>
          </a:blip>
          <a:stretch>
            <a:fillRect/>
          </a:stretch>
        </p:blipFill>
        <p:spPr>
          <a:xfrm>
            <a:off x="6550938" y="941563"/>
            <a:ext cx="2143125" cy="2143125"/>
          </a:xfrm>
          <a:prstGeom prst="rect">
            <a:avLst/>
          </a:prstGeom>
          <a:noFill/>
          <a:ln>
            <a:noFill/>
          </a:ln>
        </p:spPr>
      </p:pic>
      <p:pic>
        <p:nvPicPr>
          <p:cNvPr id="505" name="Google Shape;505;p67"/>
          <p:cNvPicPr preferRelativeResize="0"/>
          <p:nvPr/>
        </p:nvPicPr>
        <p:blipFill>
          <a:blip r:embed="rId5">
            <a:alphaModFix/>
          </a:blip>
          <a:stretch>
            <a:fillRect/>
          </a:stretch>
        </p:blipFill>
        <p:spPr>
          <a:xfrm>
            <a:off x="506125" y="973538"/>
            <a:ext cx="2143125" cy="2143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